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66" r:id="rId5"/>
    <p:sldId id="267" r:id="rId6"/>
    <p:sldId id="271" r:id="rId7"/>
    <p:sldId id="263" r:id="rId8"/>
    <p:sldId id="269" r:id="rId9"/>
    <p:sldId id="272" r:id="rId10"/>
    <p:sldId id="270" r:id="rId11"/>
    <p:sldId id="273" r:id="rId12"/>
    <p:sldId id="274" r:id="rId13"/>
    <p:sldId id="265" r:id="rId14"/>
    <p:sldId id="275" r:id="rId15"/>
    <p:sldId id="276" r:id="rId16"/>
    <p:sldId id="261" r:id="rId17"/>
    <p:sldId id="262" r:id="rId18"/>
  </p:sldIdLst>
  <p:sldSz cx="9144000" cy="5143500" type="screen16x9"/>
  <p:notesSz cx="6858000" cy="9144000"/>
  <p:embeddedFontLs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Inter Medium" panose="020B0604020202020204" charset="0"/>
      <p:regular r:id="rId24"/>
      <p:bold r:id="rId25"/>
      <p:italic r:id="rId26"/>
      <p:boldItalic r:id="rId27"/>
    </p:embeddedFont>
    <p:embeddedFont>
      <p:font typeface="Inter SemiBold" panose="020B0604020202020204" charset="0"/>
      <p:regular r:id="rId28"/>
      <p:bold r:id="rId29"/>
      <p:italic r:id="rId30"/>
      <p:boldItalic r:id="rId31"/>
    </p:embeddedFont>
    <p:embeddedFont>
      <p:font typeface="Libre Baskerville" panose="02000000000000000000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484" autoAdjust="0"/>
  </p:normalViewPr>
  <p:slideViewPr>
    <p:cSldViewPr snapToGrid="0">
      <p:cViewPr varScale="1">
        <p:scale>
          <a:sx n="79" d="100"/>
          <a:sy n="79" d="100"/>
        </p:scale>
        <p:origin x="94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509ED30F-D5C5-F2E5-0F0D-EA2B9CAA5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ED1724A9-73AA-3C99-D0E7-C053813047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46951181-0883-5CA9-169E-F580B3F5A6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1932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D844353A-E0F5-A023-B1C9-419085574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1CAB6C14-9E7B-45A3-8E0C-622F7CF7C8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67ABA0BB-9C20-21AD-8A3C-7466BB98FF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1799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57AFCA1D-53D3-9FAE-B9E2-FA8311EA2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8FDDF2F8-27F8-A852-7012-C2F1E48FC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100B94D7-F824-E1B7-1476-B353ADFAED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 b="1" dirty="0"/>
              <a:t>Déséquilibre des classes considérable</a:t>
            </a:r>
            <a:br>
              <a:rPr lang="fr-FR" sz="1100" dirty="0"/>
            </a:br>
            <a:r>
              <a:rPr lang="fr-FR" sz="1100" dirty="0"/>
              <a:t>Sur 5572 messages au total: 4825 '</a:t>
            </a:r>
            <a:r>
              <a:rPr lang="fr-FR" sz="1100" dirty="0" err="1"/>
              <a:t>ham</a:t>
            </a:r>
            <a:r>
              <a:rPr lang="fr-FR" sz="1100" dirty="0"/>
              <a:t>' (86.6%) et 747 'spam' (13.4%). </a:t>
            </a:r>
            <a:br>
              <a:rPr lang="fr-FR" sz="1100" b="1" dirty="0"/>
            </a:br>
            <a:r>
              <a:rPr lang="fr-FR" sz="1100" b="1" dirty="0"/>
              <a:t>Différences de longueur des messages</a:t>
            </a:r>
            <a:br>
              <a:rPr lang="fr-FR" sz="1100" dirty="0"/>
            </a:br>
            <a:r>
              <a:rPr lang="fr-FR" sz="1100" dirty="0"/>
              <a:t>Les spams sont généralement plus longs</a:t>
            </a:r>
            <a:br>
              <a:rPr lang="fr-FR" sz="1100" dirty="0"/>
            </a:br>
            <a:r>
              <a:rPr lang="fr-FR" sz="1100" b="1" dirty="0"/>
              <a:t>Registre du langage distinct</a:t>
            </a:r>
            <a:br>
              <a:rPr lang="fr-FR" sz="1100" dirty="0"/>
            </a:br>
            <a:r>
              <a:rPr lang="fr-FR" sz="1100" dirty="0"/>
              <a:t>Messages légitimes utilisent souvent le langage familier, les spams sont plus formels et présent l’aspect d’urgence</a:t>
            </a:r>
            <a:br>
              <a:rPr lang="fr-FR" sz="1100" dirty="0"/>
            </a:br>
            <a:r>
              <a:rPr lang="fr-FR" sz="1100" b="1" dirty="0"/>
              <a:t>Tendances du vocabulaire</a:t>
            </a:r>
            <a:br>
              <a:rPr lang="fr-FR" sz="1100" dirty="0"/>
            </a:br>
            <a:r>
              <a:rPr lang="fr-FR" sz="1100" dirty="0"/>
              <a:t>Mots clés dans les spams: ‘free’, ‘</a:t>
            </a:r>
            <a:r>
              <a:rPr lang="fr-FR" sz="1100" dirty="0" err="1"/>
              <a:t>win</a:t>
            </a:r>
            <a:r>
              <a:rPr lang="fr-FR" sz="1100" dirty="0"/>
              <a:t>’, ‘</a:t>
            </a:r>
            <a:r>
              <a:rPr lang="fr-FR" sz="1100" dirty="0" err="1"/>
              <a:t>reward</a:t>
            </a:r>
            <a:r>
              <a:rPr lang="fr-FR" sz="1100" dirty="0"/>
              <a:t>’ </a:t>
            </a:r>
            <a:r>
              <a:rPr lang="fr-FR" sz="1100" dirty="0" err="1"/>
              <a:t>etc</a:t>
            </a:r>
            <a:br>
              <a:rPr lang="en-US" sz="1100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7751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288697A0-B0A7-C461-69B7-31F205B5E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F4D10084-4AE2-22D4-603B-73EC79EC93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51849818-76FE-C18D-4730-4553210D58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2691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B24EA8BE-02A1-A9CE-A3BF-C6073409B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DBDED713-6153-59D3-89FE-C258073CA8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7352152E-6EB1-832D-4E9F-914B5EBF41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5206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3AE2DAD-61E3-9D75-845C-E230ED784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ECD46BB2-B204-A5B5-50F9-3B7DEE8C04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624A2996-7478-BDEB-1023-270295A2CF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385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DE1F163D-9306-B63B-8A42-5A1B6E71D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A44DE11A-7589-D211-54C0-A40875A23D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D530E629-5E77-0266-BA72-704E4E7606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 b="1" dirty="0" err="1"/>
              <a:t>SimpleSpamDetector</a:t>
            </a:r>
            <a:r>
              <a:rPr lang="fr-FR" sz="1100" b="1" dirty="0"/>
              <a:t>: </a:t>
            </a:r>
            <a:r>
              <a:rPr lang="fr-FR" sz="1100" dirty="0" err="1"/>
              <a:t>Purpose</a:t>
            </a:r>
            <a:r>
              <a:rPr lang="fr-FR" sz="1100" dirty="0"/>
              <a:t>: A </a:t>
            </a:r>
            <a:r>
              <a:rPr lang="fr-FR" sz="1100" dirty="0" err="1"/>
              <a:t>foundational</a:t>
            </a:r>
            <a:r>
              <a:rPr lang="fr-FR" sz="1100" dirty="0"/>
              <a:t> model to </a:t>
            </a:r>
            <a:r>
              <a:rPr lang="fr-FR" sz="1100" dirty="0" err="1"/>
              <a:t>leverage</a:t>
            </a:r>
            <a:r>
              <a:rPr lang="fr-FR" sz="1100" dirty="0"/>
              <a:t> the </a:t>
            </a:r>
            <a:r>
              <a:rPr lang="fr-FR" sz="1100" dirty="0" err="1"/>
              <a:t>combined</a:t>
            </a:r>
            <a:r>
              <a:rPr lang="fr-FR" sz="1100" dirty="0"/>
              <a:t> </a:t>
            </a:r>
            <a:r>
              <a:rPr lang="fr-FR" sz="1100" dirty="0" err="1"/>
              <a:t>semantic</a:t>
            </a:r>
            <a:r>
              <a:rPr lang="fr-FR" sz="1100" dirty="0"/>
              <a:t> </a:t>
            </a:r>
            <a:r>
              <a:rPr lang="fr-FR" sz="1100" dirty="0" err="1"/>
              <a:t>embeddings</a:t>
            </a:r>
            <a:r>
              <a:rPr lang="fr-FR" sz="1100" dirty="0"/>
              <a:t> and </a:t>
            </a:r>
            <a:r>
              <a:rPr lang="fr-FR" sz="1100" dirty="0" err="1"/>
              <a:t>engineered</a:t>
            </a:r>
            <a:r>
              <a:rPr lang="fr-FR" sz="1100" dirty="0"/>
              <a:t> </a:t>
            </a:r>
            <a:r>
              <a:rPr lang="fr-FR" sz="1100" dirty="0" err="1"/>
              <a:t>features</a:t>
            </a:r>
            <a:r>
              <a:rPr lang="fr-FR" sz="1100" dirty="0"/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sz="11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 b="1" dirty="0" err="1"/>
              <a:t>UltraSimpleSpamDetector</a:t>
            </a:r>
            <a:r>
              <a:rPr lang="fr-FR" sz="1100" b="1" dirty="0"/>
              <a:t>: </a:t>
            </a:r>
            <a:r>
              <a:rPr lang="fr-FR" sz="1100" dirty="0" err="1"/>
              <a:t>Purpose</a:t>
            </a:r>
            <a:r>
              <a:rPr lang="fr-FR" sz="1100" dirty="0"/>
              <a:t>: A </a:t>
            </a:r>
            <a:r>
              <a:rPr lang="fr-FR" sz="1100" dirty="0" err="1"/>
              <a:t>highly</a:t>
            </a:r>
            <a:r>
              <a:rPr lang="fr-FR" sz="1100" dirty="0"/>
              <a:t> efficient, minimal model </a:t>
            </a:r>
            <a:r>
              <a:rPr lang="fr-FR" sz="1100" dirty="0" err="1"/>
              <a:t>designed</a:t>
            </a:r>
            <a:r>
              <a:rPr lang="fr-FR" sz="1100" dirty="0"/>
              <a:t> for </a:t>
            </a:r>
            <a:r>
              <a:rPr lang="fr-FR" sz="1100" dirty="0" err="1"/>
              <a:t>faster</a:t>
            </a:r>
            <a:r>
              <a:rPr lang="fr-FR" sz="1100" dirty="0"/>
              <a:t> training and </a:t>
            </a:r>
            <a:r>
              <a:rPr lang="fr-FR" sz="1100" dirty="0" err="1"/>
              <a:t>deployment</a:t>
            </a:r>
            <a:r>
              <a:rPr lang="fr-FR" sz="1100" dirty="0"/>
              <a:t> </a:t>
            </a:r>
            <a:r>
              <a:rPr lang="fr-FR" sz="1100" dirty="0" err="1"/>
              <a:t>with</a:t>
            </a:r>
            <a:r>
              <a:rPr lang="fr-FR" sz="1100" dirty="0"/>
              <a:t> comparable performance.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194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5FBAD69E-1856-3286-A896-3BCF5F5D3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2F1C803E-F844-C007-5F15-5676B99F3B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EB2AC066-9B5E-7E46-B2EC-62943BB41E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6301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E66714CB-0328-AADF-7A6C-F2EED7466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4409C3C1-FA78-E144-2871-CB6AF5B645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2292C057-74F5-AC0B-F0A1-A7CE21EEA9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23729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061283EF-166A-B1E5-9609-6D2ABD40D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0FE119F4-79BB-AE53-F69D-F6E9BC6A3A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0267E9E8-0F25-3050-98C6-C79DDDFD05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1" dirty="0"/>
              <a:t>Test Cases:</a:t>
            </a:r>
            <a:r>
              <a:rPr lang="en-US" sz="1100" dirty="0"/>
              <a:t> a set of example messages</a:t>
            </a:r>
            <a:br>
              <a:rPr lang="en-US" sz="1100" dirty="0"/>
            </a:br>
            <a:r>
              <a:rPr lang="en-US" sz="1100" b="1" dirty="0"/>
              <a:t>Prediction Pipeline: </a:t>
            </a:r>
            <a:r>
              <a:rPr lang="en-US" sz="1100" dirty="0"/>
              <a:t>Each message was processed through the complete pipeline:</a:t>
            </a:r>
            <a:br>
              <a:rPr lang="en-US" sz="1100" dirty="0"/>
            </a:br>
            <a:r>
              <a:rPr lang="en-US" sz="1100" b="1" dirty="0"/>
              <a:t>Output: </a:t>
            </a:r>
            <a:r>
              <a:rPr lang="en-US" sz="1100" dirty="0"/>
              <a:t>For each message, the model provided a clear 'HAM' or 'SPAM' prediction along with a confidence score (spam probability).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10990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8F89D219-57E6-3C30-FD85-D42353F44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5109E64C-7813-1AA6-A76B-6209847AAA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CB6046AD-380C-C68A-F76E-5D24B863C5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23858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5E709C9F-BB38-41B0-034F-99C2DA7EA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4DA89FAC-D19E-61E1-AE7A-199C3667CE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B1BAFA6E-582E-3CBF-61E6-7F2440A2AE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26579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f4f11f959e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f4f11f959e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40000" y="2595750"/>
            <a:ext cx="6866444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br>
              <a:rPr lang="fr-FR" sz="2800" dirty="0"/>
            </a:br>
            <a:br>
              <a:rPr lang="fr-FR" sz="2800" dirty="0"/>
            </a:br>
            <a:r>
              <a:rPr lang="fr-FR" sz="2800" b="1" dirty="0"/>
              <a:t>Concepteur développeur en science des données</a:t>
            </a:r>
            <a:br>
              <a:rPr lang="fr-FR" sz="3200" b="1" dirty="0"/>
            </a:br>
            <a:br>
              <a:rPr lang="fr-FR" sz="3200" b="1" dirty="0"/>
            </a:br>
            <a:r>
              <a:rPr lang="fr-FR" sz="2400" b="1" dirty="0"/>
              <a:t>Machine Learning </a:t>
            </a:r>
            <a:r>
              <a:rPr lang="fr-FR" sz="2400" b="1" dirty="0" err="1"/>
              <a:t>Engineer</a:t>
            </a:r>
            <a:endParaRPr sz="28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694245" y="3254213"/>
            <a:ext cx="4882075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fr-FR" sz="2400" b="1" dirty="0">
                <a:solidFill>
                  <a:srgbClr val="FFFF00"/>
                </a:solidFill>
              </a:rPr>
              <a:t>Bloc 4</a:t>
            </a:r>
          </a:p>
        </p:txBody>
      </p:sp>
      <p:sp>
        <p:nvSpPr>
          <p:cNvPr id="2" name="Google Shape;57;p13">
            <a:extLst>
              <a:ext uri="{FF2B5EF4-FFF2-40B4-BE49-F238E27FC236}">
                <a16:creationId xmlns:a16="http://schemas.microsoft.com/office/drawing/2014/main" id="{E566AFD2-6FFA-E7E1-09F0-4B4FEF7327BA}"/>
              </a:ext>
            </a:extLst>
          </p:cNvPr>
          <p:cNvSpPr txBox="1">
            <a:spLocks/>
          </p:cNvSpPr>
          <p:nvPr/>
        </p:nvSpPr>
        <p:spPr>
          <a:xfrm>
            <a:off x="694245" y="3864535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1600" dirty="0" err="1"/>
              <a:t>Préparé</a:t>
            </a:r>
            <a:r>
              <a:rPr lang="en-US" sz="1600" dirty="0"/>
              <a:t> par Agnès HEIJLIGERS</a:t>
            </a:r>
            <a:endParaRPr lang="en-US" sz="16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ctrTitle" idx="4294967295"/>
          </p:nvPr>
        </p:nvSpPr>
        <p:spPr>
          <a:xfrm>
            <a:off x="528599" y="1199357"/>
            <a:ext cx="7189328" cy="31166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Projet AT&amp;T Détecteur de spam</a:t>
            </a:r>
            <a:b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br>
              <a:rPr lang="fr" sz="48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-FR" dirty="0"/>
              <a:t>Analyse prédictive de données non-structurées par l'intelligence artificielle</a:t>
            </a:r>
            <a:br>
              <a:rPr lang="fr-FR" dirty="0"/>
            </a:br>
            <a:br>
              <a:rPr lang="fr-FR" dirty="0"/>
            </a:br>
            <a:r>
              <a:rPr lang="fr-FR" dirty="0"/>
              <a:t>(apprentissage profond)</a:t>
            </a:r>
            <a:br>
              <a:rPr lang="fr" sz="48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br>
              <a:rPr lang="en-US" sz="48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At&amp;t Png Logo - Free Transparent PNG Logos">
            <a:extLst>
              <a:ext uri="{FF2B5EF4-FFF2-40B4-BE49-F238E27FC236}">
                <a16:creationId xmlns:a16="http://schemas.microsoft.com/office/drawing/2014/main" id="{D8DBE8D2-AFDB-D29D-1D4F-1F3447877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256" y="2634696"/>
            <a:ext cx="2253343" cy="2253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1040275" y="38945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400" noProof="0" dirty="0"/>
              <a:t>Objectif du projet</a:t>
            </a:r>
            <a:endParaRPr lang="fr-FR" sz="2500" noProof="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017FA96-217C-8435-60E3-8BA248D4E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726387"/>
            <a:ext cx="8520600" cy="2136040"/>
          </a:xfrm>
        </p:spPr>
        <p:txBody>
          <a:bodyPr/>
          <a:lstStyle/>
          <a:p>
            <a:pPr marL="114300" indent="0">
              <a:buNone/>
            </a:pPr>
            <a:r>
              <a:rPr lang="fr-FR" sz="2400" noProof="0" dirty="0">
                <a:solidFill>
                  <a:schemeClr val="tx1"/>
                </a:solidFill>
              </a:rPr>
              <a:t>Développer un détecteur de spam automatique en utilisant des techniques d’apprentissage profond avancées, exploiter l’apprentissage</a:t>
            </a:r>
            <a:r>
              <a:rPr lang="fr-FR" sz="2400" dirty="0">
                <a:solidFill>
                  <a:schemeClr val="tx1"/>
                </a:solidFill>
              </a:rPr>
              <a:t> par transfert</a:t>
            </a:r>
            <a:r>
              <a:rPr lang="fr-FR" sz="2400" noProof="0" dirty="0">
                <a:solidFill>
                  <a:schemeClr val="tx1"/>
                </a:solidFill>
              </a:rPr>
              <a:t> et des réseaux de neurones customisés. </a:t>
            </a:r>
            <a:endParaRPr lang="fr-FR" sz="2400" b="1" noProof="0" dirty="0">
              <a:solidFill>
                <a:schemeClr val="tx1"/>
              </a:solidFill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raphique 12" descr="Vibration du téléphone avec un remplissage uni">
            <a:extLst>
              <a:ext uri="{FF2B5EF4-FFF2-40B4-BE49-F238E27FC236}">
                <a16:creationId xmlns:a16="http://schemas.microsoft.com/office/drawing/2014/main" id="{89B3AD99-CFCF-26FA-2588-736E3D6239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97006" y="3518391"/>
            <a:ext cx="1201667" cy="12016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F1F8D49C-1EC1-1D25-AE6E-CED56B30C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954A48BC-6B15-0C09-937B-63F8812D4C74}"/>
              </a:ext>
            </a:extLst>
          </p:cNvPr>
          <p:cNvSpPr/>
          <p:nvPr/>
        </p:nvSpPr>
        <p:spPr>
          <a:xfrm>
            <a:off x="5500" y="-17775"/>
            <a:ext cx="3691106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B149ED72-B4FE-2A36-81FB-F0E547E334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598" y="1138675"/>
            <a:ext cx="3306007" cy="3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noProof="0" dirty="0"/>
              <a:t>Méthode</a:t>
            </a:r>
            <a:br>
              <a:rPr lang="fr-FR" noProof="0" dirty="0"/>
            </a:br>
            <a:br>
              <a:rPr lang="fr-FR" noProof="0" dirty="0"/>
            </a:br>
            <a:r>
              <a:rPr lang="fr-FR" sz="2000" noProof="0" dirty="0"/>
              <a:t>Approche hybride: </a:t>
            </a:r>
            <a:br>
              <a:rPr lang="fr-FR" sz="2000" noProof="0" dirty="0"/>
            </a:br>
            <a:r>
              <a:rPr lang="fr-FR" sz="2000" noProof="0" dirty="0"/>
              <a:t>Apprentissage par transfert + Ingénierie des variables+ Apprentissage profond</a:t>
            </a:r>
            <a:br>
              <a:rPr lang="fr-FR" noProof="0" dirty="0"/>
            </a:br>
            <a:br>
              <a:rPr lang="fr-FR" sz="2400" noProof="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fr-FR" sz="2400" noProof="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sz="2400" noProof="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AD261BDA-AFBC-DD18-E736-35920AD9B2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34F93893-BC1E-A346-21ED-A882A1DDBD8F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696604" y="868756"/>
            <a:ext cx="5441895" cy="364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000" noProof="0" dirty="0"/>
              <a:t>- </a:t>
            </a:r>
            <a:r>
              <a:rPr lang="fr-FR" sz="2000" noProof="0" dirty="0" err="1"/>
              <a:t>Embeddings</a:t>
            </a:r>
            <a:r>
              <a:rPr lang="fr-FR" sz="2000" noProof="0" dirty="0"/>
              <a:t> sémantiques de texte (Transfer Learning)</a:t>
            </a:r>
            <a:br>
              <a:rPr lang="fr-FR" sz="2000" noProof="0" dirty="0"/>
            </a:br>
            <a:br>
              <a:rPr lang="fr-FR" sz="2000" noProof="0" dirty="0"/>
            </a:br>
            <a:r>
              <a:rPr lang="fr-FR" sz="2000" noProof="0" dirty="0"/>
              <a:t>- Ingénierie des variables spécifiques au domaine (</a:t>
            </a:r>
            <a:r>
              <a:rPr lang="fr-FR" sz="2000" noProof="0" dirty="0" err="1"/>
              <a:t>Feature</a:t>
            </a:r>
            <a:r>
              <a:rPr lang="fr-FR" sz="2000" noProof="0" dirty="0"/>
              <a:t> Engineering)</a:t>
            </a:r>
            <a:br>
              <a:rPr lang="fr-FR" sz="2000" noProof="0" dirty="0"/>
            </a:br>
            <a:br>
              <a:rPr lang="fr-FR" sz="2000" noProof="0" dirty="0"/>
            </a:br>
            <a:r>
              <a:rPr lang="fr-FR" sz="2000" noProof="0" dirty="0"/>
              <a:t>- Pondération des classes pour les données déséquilibrées</a:t>
            </a:r>
            <a:br>
              <a:rPr lang="fr-FR" sz="2000" noProof="0" dirty="0"/>
            </a:br>
            <a:br>
              <a:rPr lang="fr-FR" sz="2000" noProof="0" dirty="0"/>
            </a:br>
            <a:r>
              <a:rPr lang="fr-FR" sz="2000" noProof="0" dirty="0"/>
              <a:t>- Réseaux des neurones Simple &amp; Ultrasimple (Deep Learning)</a:t>
            </a:r>
            <a:br>
              <a:rPr lang="fr-FR" sz="1600" noProof="0" dirty="0"/>
            </a:br>
            <a:endParaRPr lang="fr-FR" noProof="0" dirty="0"/>
          </a:p>
        </p:txBody>
      </p:sp>
      <p:pic>
        <p:nvPicPr>
          <p:cNvPr id="2" name="Picture 2" descr="Download HD Free Download Neural Networks Illustration Png Clipart ...">
            <a:extLst>
              <a:ext uri="{FF2B5EF4-FFF2-40B4-BE49-F238E27FC236}">
                <a16:creationId xmlns:a16="http://schemas.microsoft.com/office/drawing/2014/main" id="{0B5A643D-1E3C-572E-4DA0-852825F06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381" y="3621555"/>
            <a:ext cx="1092588" cy="975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2098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8A5D7D1-F001-0176-41AE-652C7D7C9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7FFC7DC1-B63D-89A9-0E71-7A081E9C4BD5}"/>
              </a:ext>
            </a:extLst>
          </p:cNvPr>
          <p:cNvSpPr/>
          <p:nvPr/>
        </p:nvSpPr>
        <p:spPr>
          <a:xfrm>
            <a:off x="5500" y="-17775"/>
            <a:ext cx="3691106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AD11FFD6-8681-77E2-B818-342D4E50E4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598" y="1138675"/>
            <a:ext cx="3306007" cy="3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Exploratory Data Analysis (EDA) &amp; Insights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Key Findings</a:t>
            </a:r>
            <a:br>
              <a:rPr lang="en-US" dirty="0"/>
            </a:br>
            <a:br>
              <a:rPr lang="en-US" sz="2400" dirty="0"/>
            </a:br>
            <a:b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endParaRPr sz="240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60D7D562-0F34-DD17-FD35-4F73EEFBE3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58063B08-1C2E-B674-6B5A-1F7A688B758A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696605" y="362272"/>
            <a:ext cx="5315100" cy="4155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- Significant Class Imbalance:</a:t>
            </a:r>
            <a:br>
              <a:rPr lang="en-US" sz="1600" dirty="0"/>
            </a:br>
            <a:r>
              <a:rPr lang="en-US" sz="1600" dirty="0"/>
              <a:t>Dataset has 5572 messages: 4825 'ham' (86.6%) and 747 'spam' (13.4%). 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1" dirty="0"/>
              <a:t>- Message Length Differences:</a:t>
            </a:r>
            <a:br>
              <a:rPr lang="en-US" sz="1600" dirty="0"/>
            </a:br>
            <a:r>
              <a:rPr lang="en-US" sz="1600" dirty="0"/>
              <a:t>'Ham' messages are generally shorter 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1" dirty="0"/>
              <a:t>- Distinct Language Styles:</a:t>
            </a:r>
            <a:br>
              <a:rPr lang="en-US" sz="1600" dirty="0"/>
            </a:br>
            <a:r>
              <a:rPr lang="en-US" sz="1600" dirty="0"/>
              <a:t>Ham: Often casual, uses slang, and personal tone. Spam: Characterized by formal, promotional, and urgent language.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1" dirty="0"/>
              <a:t>- Vocabulary Patterns:</a:t>
            </a:r>
            <a:br>
              <a:rPr lang="en-US" sz="1600" dirty="0"/>
            </a:br>
            <a:r>
              <a:rPr lang="en-US" sz="1600" dirty="0"/>
              <a:t>Spam Keywords: Frequent use of terms like "free", "win", "reward", "claim", "urgent", "offer" — classic indicators.</a:t>
            </a:r>
            <a:br>
              <a:rPr lang="en-US" sz="1400" dirty="0"/>
            </a:br>
            <a:br>
              <a:rPr lang="en-US" sz="1400" dirty="0"/>
            </a:br>
            <a:br>
              <a:rPr lang="en-US" dirty="0"/>
            </a:br>
            <a:br>
              <a:rPr lang="en-US" sz="1600" dirty="0"/>
            </a:br>
            <a:br>
              <a:rPr lang="en-US" dirty="0"/>
            </a:br>
            <a:br>
              <a:rPr lang="fr-FR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56429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82BB91CB-0472-D4CE-74A9-BAA14BBDF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3A6C34F5-0D3C-DAB6-97C6-14FA08713906}"/>
              </a:ext>
            </a:extLst>
          </p:cNvPr>
          <p:cNvSpPr/>
          <p:nvPr/>
        </p:nvSpPr>
        <p:spPr>
          <a:xfrm>
            <a:off x="5500" y="-17775"/>
            <a:ext cx="3691106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83DE46C8-3AB4-72EE-BC46-37A0D1275B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598" y="1138675"/>
            <a:ext cx="3306007" cy="3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noProof="0" dirty="0"/>
              <a:t>Analyse exploratoire des données (EDA)</a:t>
            </a:r>
            <a:br>
              <a:rPr lang="fr-FR" b="1" noProof="0" dirty="0"/>
            </a:br>
            <a:br>
              <a:rPr lang="fr-FR" b="1" noProof="0" dirty="0"/>
            </a:br>
            <a:r>
              <a:rPr lang="fr-FR" noProof="0" dirty="0"/>
              <a:t>Visualisations </a:t>
            </a:r>
            <a:r>
              <a:rPr lang="fr-FR" dirty="0"/>
              <a:t>et</a:t>
            </a:r>
            <a:r>
              <a:rPr lang="fr-FR" noProof="0" dirty="0"/>
              <a:t> Observations</a:t>
            </a:r>
            <a:br>
              <a:rPr lang="fr-FR" noProof="0" dirty="0"/>
            </a:br>
            <a:br>
              <a:rPr lang="fr-FR" sz="2400" noProof="0" dirty="0"/>
            </a:br>
            <a:br>
              <a:rPr lang="fr-FR" sz="2400" noProof="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fr-FR" sz="2400" noProof="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sz="2400" noProof="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B5319C8D-9D25-A54D-4982-C5DFE57B9C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180F3178-EB21-F750-714A-BD62DB583EC8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696605" y="362273"/>
            <a:ext cx="5315100" cy="433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600" b="1" dirty="0"/>
              <a:t>Déséquilibre des classes considérable</a:t>
            </a:r>
            <a:br>
              <a:rPr lang="fr-FR" sz="1600" dirty="0"/>
            </a:br>
            <a:br>
              <a:rPr lang="fr-FR" sz="1600" b="1" dirty="0"/>
            </a:br>
            <a:r>
              <a:rPr lang="fr-FR" sz="1600" b="1" dirty="0"/>
              <a:t>Différences de longueur des messages</a:t>
            </a:r>
            <a:br>
              <a:rPr lang="fr-FR" sz="1600" dirty="0"/>
            </a:br>
            <a:br>
              <a:rPr lang="fr-FR" sz="1600" dirty="0"/>
            </a:br>
            <a:r>
              <a:rPr lang="fr-FR" sz="1600" b="1" dirty="0"/>
              <a:t>Registre du langage distinct</a:t>
            </a:r>
            <a:br>
              <a:rPr lang="fr-FR" sz="1600" dirty="0"/>
            </a:br>
            <a:br>
              <a:rPr lang="fr-FR" sz="1600" dirty="0"/>
            </a:br>
            <a:r>
              <a:rPr lang="fr-FR" sz="1600" b="1" dirty="0"/>
              <a:t>Tendances du vocabulaire</a:t>
            </a:r>
            <a:br>
              <a:rPr lang="fr-FR" sz="1600" dirty="0"/>
            </a:br>
            <a:br>
              <a:rPr lang="fr-FR" sz="1400" dirty="0"/>
            </a:br>
            <a:br>
              <a:rPr lang="fr-FR" sz="1400" dirty="0"/>
            </a:br>
            <a:br>
              <a:rPr lang="fr-FR" sz="1600" noProof="0" dirty="0"/>
            </a:br>
            <a:br>
              <a:rPr lang="fr-FR" noProof="0" dirty="0"/>
            </a:br>
            <a:br>
              <a:rPr lang="fr-FR" noProof="0" dirty="0"/>
            </a:br>
            <a:endParaRPr lang="fr-FR" sz="1600" noProof="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7CCD8E9-F18C-1E2B-E4A8-504DC8366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603" y="2397760"/>
            <a:ext cx="2738107" cy="182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967563F2-380A-C8AE-6066-408433D4C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384" y="3382470"/>
            <a:ext cx="2480093" cy="159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1930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E43C3A8-E024-8607-C2FC-7A9A13A9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6D0D68DB-8C21-6287-2661-DE3682C66B04}"/>
              </a:ext>
            </a:extLst>
          </p:cNvPr>
          <p:cNvSpPr/>
          <p:nvPr/>
        </p:nvSpPr>
        <p:spPr>
          <a:xfrm>
            <a:off x="5499" y="-17775"/>
            <a:ext cx="3520625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C537C441-8431-E426-0EBD-9CD05FC9DB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808" y="967077"/>
            <a:ext cx="2988031" cy="377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dirty="0"/>
              <a:t>Ingénierie des variables spécifiques au domaine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Mots </a:t>
            </a:r>
            <a:r>
              <a:rPr lang="en-US" dirty="0" err="1"/>
              <a:t>clés</a:t>
            </a:r>
            <a:r>
              <a:rPr lang="en-US" dirty="0"/>
              <a:t> dans les spams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fr-FR" b="1" dirty="0"/>
            </a:br>
            <a:b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endParaRPr sz="240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2BC48FC5-5319-9C6D-2E6F-456B5FC827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6EE85370-EE17-5699-C8B7-0827A399C7A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740519" y="1141433"/>
            <a:ext cx="5315100" cy="342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800" noProof="0" dirty="0"/>
              <a:t>Quantifier les indicateurs de spam en se basant sur l’analyses exploratoire:</a:t>
            </a:r>
            <a:br>
              <a:rPr lang="fr-FR" sz="1800" noProof="0" dirty="0"/>
            </a:br>
            <a:br>
              <a:rPr lang="fr-FR" sz="1800" noProof="0" dirty="0"/>
            </a:br>
            <a:r>
              <a:rPr lang="fr-FR" sz="1800" noProof="0" dirty="0"/>
              <a:t> - </a:t>
            </a:r>
            <a:r>
              <a:rPr lang="fr-FR" sz="1800" noProof="0" dirty="0" err="1"/>
              <a:t>spam_keyword_count</a:t>
            </a:r>
            <a:r>
              <a:rPr lang="fr-FR" sz="1800" noProof="0" dirty="0"/>
              <a:t>: compte les occurrences des mots clés attribués aux spams</a:t>
            </a:r>
            <a:br>
              <a:rPr lang="fr-FR" sz="1800" noProof="0" dirty="0"/>
            </a:br>
            <a:br>
              <a:rPr lang="fr-FR" sz="1800" noProof="0" dirty="0"/>
            </a:br>
            <a:r>
              <a:rPr lang="fr-FR" sz="1800" noProof="0" dirty="0"/>
              <a:t> - </a:t>
            </a:r>
            <a:r>
              <a:rPr lang="fr-FR" sz="1800" noProof="0" dirty="0" err="1"/>
              <a:t>has_spam_keywords</a:t>
            </a:r>
            <a:r>
              <a:rPr lang="fr-FR" sz="1800" noProof="0" dirty="0"/>
              <a:t>: une variable binaire (0 ou 1) </a:t>
            </a:r>
            <a:r>
              <a:rPr lang="fr-FR" sz="1800" noProof="0" dirty="0" err="1"/>
              <a:t>indicant</a:t>
            </a:r>
            <a:r>
              <a:rPr lang="fr-FR" sz="1800" noProof="0" dirty="0"/>
              <a:t> si le message contient le mot clé ou non</a:t>
            </a:r>
            <a:br>
              <a:rPr lang="fr-FR" sz="1800" noProof="0" dirty="0"/>
            </a:br>
            <a:br>
              <a:rPr lang="fr-FR" sz="1800" noProof="0" dirty="0"/>
            </a:br>
            <a:br>
              <a:rPr lang="fr-FR" sz="1600" noProof="0" dirty="0"/>
            </a:br>
            <a:br>
              <a:rPr lang="fr-FR" noProof="0" dirty="0"/>
            </a:br>
            <a:br>
              <a:rPr lang="fr-FR" sz="1600" noProof="0" dirty="0"/>
            </a:br>
            <a:br>
              <a:rPr lang="fr-FR" noProof="0" dirty="0"/>
            </a:br>
            <a:endParaRPr lang="fr-FR" sz="1600" noProof="0" dirty="0"/>
          </a:p>
        </p:txBody>
      </p:sp>
    </p:spTree>
    <p:extLst>
      <p:ext uri="{BB962C8B-B14F-4D97-AF65-F5344CB8AC3E}">
        <p14:creationId xmlns:p14="http://schemas.microsoft.com/office/powerpoint/2010/main" val="4234565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8F6F6F57-6AFE-BFED-9F01-DF1A78855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1556290D-03E2-F98D-D5BD-E242604A9292}"/>
              </a:ext>
            </a:extLst>
          </p:cNvPr>
          <p:cNvSpPr/>
          <p:nvPr/>
        </p:nvSpPr>
        <p:spPr>
          <a:xfrm>
            <a:off x="5499" y="-17775"/>
            <a:ext cx="3520625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E512E535-D198-2F88-2297-6469F6688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808" y="967077"/>
            <a:ext cx="2988031" cy="377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noProof="0" dirty="0" err="1"/>
              <a:t>Embedding</a:t>
            </a:r>
            <a:r>
              <a:rPr lang="fr-FR" b="1" noProof="0" dirty="0"/>
              <a:t> du texte avec Sentence Transformers</a:t>
            </a:r>
            <a:br>
              <a:rPr lang="fr-FR" noProof="0" dirty="0"/>
            </a:br>
            <a:br>
              <a:rPr lang="fr-FR" noProof="0" dirty="0"/>
            </a:br>
            <a:r>
              <a:rPr lang="fr-FR" noProof="0" dirty="0"/>
              <a:t>- Convertir le texte en </a:t>
            </a:r>
            <a:r>
              <a:rPr lang="fr-FR" noProof="0"/>
              <a:t>vecteurs sémantiques</a:t>
            </a:r>
            <a:br>
              <a:rPr lang="fr-FR" b="1" noProof="0" dirty="0"/>
            </a:br>
            <a:br>
              <a:rPr lang="fr-FR" sz="2400" noProof="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fr-FR" sz="2400" noProof="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sz="2400" noProof="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57B5629A-5A22-78B6-E492-80607E03AD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7027E4CB-6B14-257E-99F2-16C5D49C3682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526124" y="579249"/>
            <a:ext cx="5315100" cy="4302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800" b="1" noProof="0" dirty="0"/>
              <a:t>Modèle existant Sentence Transformer:</a:t>
            </a:r>
            <a:br>
              <a:rPr lang="fr-FR" sz="1800" b="1" noProof="0" dirty="0"/>
            </a:br>
            <a:r>
              <a:rPr lang="fr-FR" sz="1800" noProof="0" dirty="0"/>
              <a:t>Utiliser </a:t>
            </a:r>
            <a:r>
              <a:rPr lang="fr-FR" sz="1800" b="1" noProof="0" dirty="0"/>
              <a:t>all-MiniLM-L6-v2</a:t>
            </a:r>
            <a:r>
              <a:rPr lang="fr-FR" sz="1800" noProof="0" dirty="0"/>
              <a:t> connu pour son </a:t>
            </a:r>
            <a:r>
              <a:rPr lang="fr-FR" sz="1800" noProof="0" dirty="0" err="1"/>
              <a:t>équlibre</a:t>
            </a:r>
            <a:r>
              <a:rPr lang="fr-FR" sz="1800" noProof="0" dirty="0"/>
              <a:t> entre la Vitesse et la performance.</a:t>
            </a:r>
            <a:br>
              <a:rPr lang="fr-FR" sz="1800" noProof="0" dirty="0"/>
            </a:br>
            <a:br>
              <a:rPr lang="fr-FR" sz="1800" noProof="0" dirty="0"/>
            </a:br>
            <a:r>
              <a:rPr lang="fr-FR" sz="1800" b="1" noProof="0" dirty="0"/>
              <a:t>Génération des </a:t>
            </a:r>
            <a:r>
              <a:rPr lang="fr-FR" sz="1800" b="1" noProof="0" dirty="0" err="1"/>
              <a:t>Embedding</a:t>
            </a:r>
            <a:r>
              <a:rPr lang="fr-FR" sz="1800" b="1" noProof="0" dirty="0"/>
              <a:t>:</a:t>
            </a:r>
            <a:br>
              <a:rPr lang="fr-FR" sz="1800" noProof="0" dirty="0"/>
            </a:br>
            <a:r>
              <a:rPr lang="fr-FR" sz="1800" noProof="0" dirty="0"/>
              <a:t>Transformer chaque message en vecteur numérique de 384 dimensions porteur de la valeur sémantique.</a:t>
            </a:r>
            <a:br>
              <a:rPr lang="fr-FR" sz="1800" noProof="0" dirty="0"/>
            </a:br>
            <a:br>
              <a:rPr lang="fr-FR" sz="1800" noProof="0" dirty="0"/>
            </a:br>
            <a:r>
              <a:rPr lang="fr-FR" sz="1800" b="1" noProof="0" dirty="0"/>
              <a:t>Combiner avec les variables élaborées précédemment:</a:t>
            </a:r>
            <a:br>
              <a:rPr lang="fr-FR" sz="1800" b="1" noProof="0" dirty="0"/>
            </a:br>
            <a:r>
              <a:rPr lang="fr-FR" sz="1800" noProof="0" dirty="0"/>
              <a:t>Concaténer les vecteurs sémantiques avec les 8 variables spécifiques =&gt; l’ensemble des variables contient 392 dimensions par message</a:t>
            </a:r>
            <a:br>
              <a:rPr lang="fr-FR" sz="1800" noProof="0" dirty="0"/>
            </a:br>
            <a:br>
              <a:rPr lang="fr-FR" sz="1800" noProof="0" dirty="0"/>
            </a:br>
            <a:br>
              <a:rPr lang="fr-FR" noProof="0" dirty="0"/>
            </a:br>
            <a:br>
              <a:rPr lang="fr-FR" sz="1600" noProof="0" dirty="0"/>
            </a:br>
            <a:br>
              <a:rPr lang="fr-FR" noProof="0" dirty="0"/>
            </a:br>
            <a:endParaRPr lang="fr-FR" sz="1600" noProof="0" dirty="0"/>
          </a:p>
        </p:txBody>
      </p:sp>
    </p:spTree>
    <p:extLst>
      <p:ext uri="{BB962C8B-B14F-4D97-AF65-F5344CB8AC3E}">
        <p14:creationId xmlns:p14="http://schemas.microsoft.com/office/powerpoint/2010/main" val="3349117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8F107260-E9E3-F2FF-2773-9B1ED7275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04979A22-C8E0-FFFA-9852-DCCD10627B77}"/>
              </a:ext>
            </a:extLst>
          </p:cNvPr>
          <p:cNvSpPr/>
          <p:nvPr/>
        </p:nvSpPr>
        <p:spPr>
          <a:xfrm>
            <a:off x="5499" y="-17775"/>
            <a:ext cx="3520625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2AECFF55-D3E0-E752-1051-22457DE80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808" y="967077"/>
            <a:ext cx="2988031" cy="377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dirty="0"/>
              <a:t>Architecture des modèles neuronaux </a:t>
            </a:r>
            <a:br>
              <a:rPr lang="fr-FR" b="1" dirty="0"/>
            </a:br>
            <a:br>
              <a:rPr lang="fr-FR" dirty="0"/>
            </a:br>
            <a:r>
              <a:rPr lang="fr-FR" sz="2000" dirty="0"/>
              <a:t>- 2 réseaux neuronaux à propagation directe pour une classification binaire efficace</a:t>
            </a:r>
            <a:br>
              <a:rPr lang="fr-FR" b="1" dirty="0"/>
            </a:br>
            <a:b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endParaRPr sz="240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8C51FDFF-64D4-7826-EACF-38E4037EB7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F5F910D5-3B49-70D5-2E53-E96797673320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526124" y="341931"/>
            <a:ext cx="5455142" cy="4441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600" b="1" noProof="0" dirty="0"/>
              <a:t>Conception:</a:t>
            </a:r>
            <a:br>
              <a:rPr lang="fr-FR" sz="1600" noProof="0" dirty="0"/>
            </a:br>
            <a:br>
              <a:rPr lang="fr-FR" sz="1600" noProof="0" dirty="0"/>
            </a:br>
            <a:r>
              <a:rPr lang="fr-FR" sz="1600" b="1" noProof="0" dirty="0"/>
              <a:t>Couche d’entrée</a:t>
            </a:r>
            <a:r>
              <a:rPr lang="fr-FR" sz="1600" noProof="0" dirty="0"/>
              <a:t>: 392 variables (384 de Sentence Transformers + 8 variables spécifiques).</a:t>
            </a:r>
            <a:br>
              <a:rPr lang="fr-FR" sz="1600" noProof="0" dirty="0"/>
            </a:br>
            <a:br>
              <a:rPr lang="fr-FR" sz="1600" noProof="0" dirty="0"/>
            </a:br>
            <a:r>
              <a:rPr lang="fr-FR" sz="1600" b="1" noProof="0" dirty="0"/>
              <a:t>Couche de sortie</a:t>
            </a:r>
            <a:r>
              <a:rPr lang="fr-FR" sz="1600" noProof="0" dirty="0"/>
              <a:t>: Simple neurone avec l’activation sigmoïde pour la classification binaire (spam/</a:t>
            </a:r>
            <a:r>
              <a:rPr lang="fr-FR" sz="1600" noProof="0" dirty="0" err="1"/>
              <a:t>ham</a:t>
            </a:r>
            <a:r>
              <a:rPr lang="fr-FR" sz="1600" noProof="0" dirty="0"/>
              <a:t>).</a:t>
            </a:r>
            <a:br>
              <a:rPr lang="fr-FR" sz="1600" noProof="0" dirty="0"/>
            </a:br>
            <a:br>
              <a:rPr lang="fr-FR" sz="1600" noProof="0" dirty="0"/>
            </a:br>
            <a:r>
              <a:rPr lang="fr-FR" sz="1600" b="1" noProof="0" dirty="0"/>
              <a:t>Activation</a:t>
            </a:r>
            <a:r>
              <a:rPr lang="fr-FR" sz="1600" noProof="0" dirty="0"/>
              <a:t>: </a:t>
            </a:r>
            <a:r>
              <a:rPr lang="fr-FR" sz="1600" noProof="0" dirty="0" err="1"/>
              <a:t>ReLU</a:t>
            </a:r>
            <a:r>
              <a:rPr lang="fr-FR" sz="1600" noProof="0" dirty="0"/>
              <a:t> pour la non-linéarité dans les couches cachées.</a:t>
            </a:r>
            <a:br>
              <a:rPr lang="fr-FR" sz="1600" noProof="0" dirty="0"/>
            </a:br>
            <a:br>
              <a:rPr lang="fr-FR" sz="1600" noProof="0" dirty="0"/>
            </a:br>
            <a:r>
              <a:rPr lang="fr-FR" sz="1600" b="1" noProof="0" dirty="0"/>
              <a:t>Dropout</a:t>
            </a:r>
            <a:r>
              <a:rPr lang="fr-FR" sz="1600" noProof="0" dirty="0"/>
              <a:t>: Inclut pour prévenir l’</a:t>
            </a:r>
            <a:r>
              <a:rPr lang="fr-FR" sz="1600" noProof="0" dirty="0" err="1"/>
              <a:t>overfitting</a:t>
            </a:r>
            <a:r>
              <a:rPr lang="fr-FR" sz="1600" noProof="0" dirty="0"/>
              <a:t>, </a:t>
            </a:r>
            <a:r>
              <a:rPr lang="fr-FR" sz="1600" noProof="0" dirty="0" err="1"/>
              <a:t>surout</a:t>
            </a:r>
            <a:r>
              <a:rPr lang="fr-FR" sz="1600" noProof="0" dirty="0"/>
              <a:t> dans un </a:t>
            </a:r>
            <a:r>
              <a:rPr lang="fr-FR" sz="1600" noProof="0" dirty="0" err="1"/>
              <a:t>context</a:t>
            </a:r>
            <a:r>
              <a:rPr lang="fr-FR" sz="1600" noProof="0" dirty="0"/>
              <a:t> du jeu de données restreint</a:t>
            </a:r>
            <a:br>
              <a:rPr lang="fr-FR" sz="1600" noProof="0" dirty="0"/>
            </a:br>
            <a:br>
              <a:rPr lang="fr-FR" sz="1600" noProof="0" dirty="0"/>
            </a:br>
            <a:r>
              <a:rPr lang="fr-FR" sz="1600" b="1" noProof="0" dirty="0"/>
              <a:t>Efficacité</a:t>
            </a:r>
            <a:r>
              <a:rPr lang="fr-FR" sz="1600" noProof="0" dirty="0"/>
              <a:t>: les deux modèles priorisent l’architecture à propagation directe pour équilibrer la performance avec les ressources de calcul pour assurer un déploiement rapide.</a:t>
            </a:r>
            <a:br>
              <a:rPr lang="fr-FR" noProof="0" dirty="0"/>
            </a:br>
            <a:br>
              <a:rPr lang="fr-FR" noProof="0" dirty="0"/>
            </a:br>
            <a:br>
              <a:rPr lang="fr-FR" noProof="0" dirty="0"/>
            </a:br>
            <a:br>
              <a:rPr lang="fr-FR" sz="1600" noProof="0" dirty="0"/>
            </a:br>
            <a:br>
              <a:rPr lang="fr-FR" noProof="0" dirty="0"/>
            </a:br>
            <a:br>
              <a:rPr lang="fr-FR" sz="1600" noProof="0" dirty="0"/>
            </a:br>
            <a:br>
              <a:rPr lang="fr-FR" noProof="0" dirty="0"/>
            </a:br>
            <a:endParaRPr lang="fr-FR" sz="1600" noProof="0" dirty="0"/>
          </a:p>
        </p:txBody>
      </p:sp>
    </p:spTree>
    <p:extLst>
      <p:ext uri="{BB962C8B-B14F-4D97-AF65-F5344CB8AC3E}">
        <p14:creationId xmlns:p14="http://schemas.microsoft.com/office/powerpoint/2010/main" val="2564139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D9DE7D89-C1F7-A4A3-4CED-1BDCD203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C8806206-5BF8-B5CB-7F02-C901346802F4}"/>
              </a:ext>
            </a:extLst>
          </p:cNvPr>
          <p:cNvSpPr/>
          <p:nvPr/>
        </p:nvSpPr>
        <p:spPr>
          <a:xfrm>
            <a:off x="5499" y="-17775"/>
            <a:ext cx="3520625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A76B9C11-15D3-4C6F-276A-F0FAA446B3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808" y="967077"/>
            <a:ext cx="2988031" cy="377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noProof="0" dirty="0"/>
              <a:t>Architecture des modèles neuronaux </a:t>
            </a:r>
            <a:br>
              <a:rPr lang="fr-FR" b="1" noProof="0" dirty="0"/>
            </a:br>
            <a:br>
              <a:rPr lang="fr-FR" noProof="0" dirty="0"/>
            </a:br>
            <a:r>
              <a:rPr lang="fr-FR" sz="2000" noProof="0" dirty="0"/>
              <a:t>- 2 réseaux neuronaux à propagation directe pour une classification binaire efficace</a:t>
            </a:r>
            <a:br>
              <a:rPr lang="fr-FR" b="1" noProof="0" dirty="0"/>
            </a:br>
            <a:br>
              <a:rPr lang="fr-FR" sz="2400" noProof="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fr-FR" sz="2400" noProof="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sz="2400" noProof="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1672457B-229E-7F7A-C9FF-AD2C3D6ABA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2BE524D9-0AA5-9467-7381-4ECE57E3DE0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588119" y="579248"/>
            <a:ext cx="5315100" cy="4380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b="1" noProof="0" dirty="0" err="1"/>
              <a:t>SimpleSpamDetector</a:t>
            </a:r>
            <a:r>
              <a:rPr lang="fr-FR" sz="1400" b="1" noProof="0" dirty="0"/>
              <a:t>:</a:t>
            </a:r>
            <a:br>
              <a:rPr lang="fr-FR" sz="1400" noProof="0" dirty="0"/>
            </a:br>
            <a:br>
              <a:rPr lang="fr-FR" sz="1400" noProof="0" dirty="0"/>
            </a:br>
            <a:r>
              <a:rPr lang="fr-FR" sz="1400" noProof="0" dirty="0"/>
              <a:t>Architecture: Couche d’entrée </a:t>
            </a:r>
            <a:r>
              <a:rPr lang="fr-FR" sz="1400" b="1" noProof="0" dirty="0"/>
              <a:t>(392 variables</a:t>
            </a:r>
            <a:r>
              <a:rPr lang="fr-FR" sz="1400" noProof="0" dirty="0"/>
              <a:t>) → Couche cachée (</a:t>
            </a:r>
            <a:r>
              <a:rPr lang="fr-FR" sz="1400" b="1" noProof="0" dirty="0"/>
              <a:t>128 neurones</a:t>
            </a:r>
            <a:r>
              <a:rPr lang="fr-FR" sz="1400" noProof="0" dirty="0"/>
              <a:t>, activation </a:t>
            </a:r>
            <a:r>
              <a:rPr lang="fr-FR" sz="1400" noProof="0" dirty="0" err="1"/>
              <a:t>ReLU</a:t>
            </a:r>
            <a:r>
              <a:rPr lang="fr-FR" sz="1400" noProof="0" dirty="0"/>
              <a:t>, Dropout) → Couche de sortie (</a:t>
            </a:r>
            <a:r>
              <a:rPr lang="fr-FR" sz="1400" b="1" noProof="0" dirty="0"/>
              <a:t>1 neurone</a:t>
            </a:r>
            <a:r>
              <a:rPr lang="fr-FR" sz="1400" noProof="0" dirty="0"/>
              <a:t>, activation </a:t>
            </a:r>
            <a:r>
              <a:rPr lang="fr-FR" sz="1400" noProof="0" dirty="0" err="1"/>
              <a:t>Sigmoid</a:t>
            </a:r>
            <a:r>
              <a:rPr lang="fr-FR" sz="1400" noProof="0" dirty="0"/>
              <a:t> pour la probabilité).</a:t>
            </a:r>
            <a:br>
              <a:rPr lang="fr-FR" sz="1400" noProof="0" dirty="0"/>
            </a:br>
            <a:br>
              <a:rPr lang="fr-FR" sz="1400" noProof="0" dirty="0"/>
            </a:br>
            <a:r>
              <a:rPr lang="fr-FR" sz="1400" b="1" noProof="0" dirty="0"/>
              <a:t>Paramètres: environ 50,433.</a:t>
            </a:r>
            <a:br>
              <a:rPr lang="fr-FR" sz="1400" noProof="0" dirty="0"/>
            </a:br>
            <a:br>
              <a:rPr lang="fr-FR" sz="1400" noProof="0" dirty="0"/>
            </a:br>
            <a:br>
              <a:rPr lang="fr-FR" sz="1400" noProof="0" dirty="0"/>
            </a:br>
            <a:r>
              <a:rPr lang="fr-FR" sz="1400" b="1" noProof="0" dirty="0" err="1"/>
              <a:t>UltraSimpleSpamDetector</a:t>
            </a:r>
            <a:r>
              <a:rPr lang="fr-FR" sz="1400" b="1" noProof="0" dirty="0"/>
              <a:t>:</a:t>
            </a:r>
            <a:br>
              <a:rPr lang="fr-FR" sz="1400" noProof="0" dirty="0"/>
            </a:br>
            <a:br>
              <a:rPr lang="fr-FR" sz="1400" noProof="0" dirty="0"/>
            </a:br>
            <a:r>
              <a:rPr lang="fr-FR" sz="1400" noProof="0" dirty="0"/>
              <a:t>Architecture: Couche d’entrée (</a:t>
            </a:r>
            <a:r>
              <a:rPr lang="fr-FR" sz="1400" b="1" noProof="0" dirty="0"/>
              <a:t>392 variables</a:t>
            </a:r>
            <a:r>
              <a:rPr lang="fr-FR" sz="1400" noProof="0" dirty="0"/>
              <a:t>) → Couche cachée (</a:t>
            </a:r>
            <a:r>
              <a:rPr lang="fr-FR" sz="1400" b="1" noProof="0" dirty="0"/>
              <a:t>64 neurones</a:t>
            </a:r>
            <a:r>
              <a:rPr lang="fr-FR" sz="1400" noProof="0" dirty="0"/>
              <a:t>, activation </a:t>
            </a:r>
            <a:r>
              <a:rPr lang="fr-FR" sz="1400" noProof="0" dirty="0" err="1"/>
              <a:t>ReLU</a:t>
            </a:r>
            <a:r>
              <a:rPr lang="fr-FR" sz="1400" noProof="0" dirty="0"/>
              <a:t>, Dropout) → Couche de sortie (</a:t>
            </a:r>
            <a:r>
              <a:rPr lang="fr-FR" sz="1400" b="1" noProof="0" dirty="0"/>
              <a:t>1 neurone</a:t>
            </a:r>
            <a:r>
              <a:rPr lang="fr-FR" sz="1400" noProof="0" dirty="0"/>
              <a:t>, activation </a:t>
            </a:r>
            <a:r>
              <a:rPr lang="fr-FR" sz="1400" noProof="0" dirty="0" err="1"/>
              <a:t>Sigmoid</a:t>
            </a:r>
            <a:r>
              <a:rPr lang="fr-FR" sz="1400" noProof="0" dirty="0"/>
              <a:t> pour la probabilité).</a:t>
            </a:r>
            <a:br>
              <a:rPr lang="fr-FR" sz="1400" noProof="0" dirty="0"/>
            </a:br>
            <a:br>
              <a:rPr lang="fr-FR" sz="1400" noProof="0" dirty="0"/>
            </a:br>
            <a:r>
              <a:rPr lang="fr-FR" sz="1400" b="1" noProof="0" dirty="0"/>
              <a:t>Paramètres: environ 25,217.</a:t>
            </a:r>
            <a:br>
              <a:rPr lang="fr-FR" sz="1400" noProof="0" dirty="0"/>
            </a:br>
            <a:br>
              <a:rPr lang="fr-FR" sz="1400" noProof="0" dirty="0"/>
            </a:br>
            <a:br>
              <a:rPr lang="fr-FR" noProof="0" dirty="0"/>
            </a:br>
            <a:br>
              <a:rPr lang="fr-FR" sz="1600" noProof="0" dirty="0"/>
            </a:br>
            <a:br>
              <a:rPr lang="fr-FR" noProof="0" dirty="0"/>
            </a:br>
            <a:br>
              <a:rPr lang="fr-FR" sz="1600" noProof="0" dirty="0"/>
            </a:br>
            <a:br>
              <a:rPr lang="fr-FR" noProof="0" dirty="0"/>
            </a:br>
            <a:endParaRPr lang="fr-FR" sz="1600" noProof="0" dirty="0"/>
          </a:p>
        </p:txBody>
      </p:sp>
    </p:spTree>
    <p:extLst>
      <p:ext uri="{BB962C8B-B14F-4D97-AF65-F5344CB8AC3E}">
        <p14:creationId xmlns:p14="http://schemas.microsoft.com/office/powerpoint/2010/main" val="851915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20ADF24-A96D-5542-D7AA-9FAB0966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6C15E693-D567-8947-2500-19E39B53C9EF}"/>
              </a:ext>
            </a:extLst>
          </p:cNvPr>
          <p:cNvSpPr/>
          <p:nvPr/>
        </p:nvSpPr>
        <p:spPr>
          <a:xfrm>
            <a:off x="5499" y="-17775"/>
            <a:ext cx="3520625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5A8CD565-7FB9-F6BA-5DFF-426B16E9B1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808" y="967077"/>
            <a:ext cx="2988031" cy="377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Processus </a:t>
            </a:r>
            <a:r>
              <a:rPr lang="en-US" b="1" dirty="0" err="1"/>
              <a:t>d’entraînement</a:t>
            </a:r>
            <a:r>
              <a:rPr lang="en-US" b="1" dirty="0"/>
              <a:t> et ponderation des classes</a:t>
            </a:r>
            <a:br>
              <a:rPr lang="en-US" dirty="0"/>
            </a:br>
            <a:br>
              <a:rPr lang="fr-FR" dirty="0"/>
            </a:br>
            <a:br>
              <a:rPr lang="en-US" dirty="0"/>
            </a:br>
            <a:r>
              <a:rPr lang="en-US" sz="2000" dirty="0"/>
              <a:t>- </a:t>
            </a:r>
            <a:r>
              <a:rPr lang="fr-FR" dirty="0"/>
              <a:t>Aspects clés de l’entraînement</a:t>
            </a:r>
            <a:br>
              <a:rPr lang="fr-FR" dirty="0"/>
            </a:br>
            <a:br>
              <a:rPr lang="fr-FR" b="1" dirty="0"/>
            </a:br>
            <a:b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endParaRPr sz="240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18DA176D-56A9-4569-D271-7173AA3F0E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F9D673B3-3E77-045F-8415-0441C81C90B2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588119" y="579248"/>
            <a:ext cx="5455142" cy="44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/>
              <a:t>Device Utilization: </a:t>
            </a:r>
            <a:r>
              <a:rPr lang="en-US" sz="1400" dirty="0"/>
              <a:t>use of </a:t>
            </a:r>
            <a:r>
              <a:rPr lang="en-US" sz="1400" dirty="0" err="1"/>
              <a:t>cuda</a:t>
            </a:r>
            <a:r>
              <a:rPr lang="en-US" sz="1400" dirty="0"/>
              <a:t> (GPU) device for accelerated training.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1" dirty="0"/>
              <a:t>Weighted Loss Function: </a:t>
            </a:r>
            <a:r>
              <a:rPr lang="en-US" sz="1400" dirty="0"/>
              <a:t>crucial for handling the significant class imbalance.</a:t>
            </a:r>
            <a:br>
              <a:rPr lang="en-US" sz="1400" dirty="0"/>
            </a:br>
            <a:br>
              <a:rPr lang="en-US" sz="1400" b="1" dirty="0"/>
            </a:br>
            <a:r>
              <a:rPr lang="en-US" sz="1400" b="1" dirty="0"/>
              <a:t>Optimizer: The </a:t>
            </a:r>
            <a:r>
              <a:rPr lang="en-US" sz="1400" dirty="0"/>
              <a:t>Adam optimizer was employed with a learning rate of 0.001 and </a:t>
            </a:r>
            <a:r>
              <a:rPr lang="en-US" sz="1400" dirty="0" err="1"/>
              <a:t>weight_decay</a:t>
            </a:r>
            <a:r>
              <a:rPr lang="en-US" sz="1400" dirty="0"/>
              <a:t>=1e-5 to prevent overfitting.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1" dirty="0"/>
              <a:t>Training Loop: </a:t>
            </a:r>
            <a:r>
              <a:rPr lang="en-US" sz="1400" dirty="0"/>
              <a:t>each epoch involved iterating through the </a:t>
            </a:r>
            <a:r>
              <a:rPr lang="en-US" sz="1400" dirty="0" err="1"/>
              <a:t>train_loader</a:t>
            </a:r>
            <a:r>
              <a:rPr lang="en-US" sz="1400" dirty="0"/>
              <a:t>, performing forward pass, calculating the weighted loss, backpropagating gradients, and updating model parameters.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1" dirty="0"/>
              <a:t>Validation Loop: </a:t>
            </a:r>
            <a:r>
              <a:rPr lang="en-US" sz="1400" dirty="0"/>
              <a:t>after each epoch, the model was evaluated on the </a:t>
            </a:r>
            <a:r>
              <a:rPr lang="en-US" sz="1400" dirty="0" err="1"/>
              <a:t>test_loader</a:t>
            </a:r>
            <a:r>
              <a:rPr lang="en-US" sz="1400" dirty="0"/>
              <a:t> to monitor performance on unseen data.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Metrics like accuracy and AUC score were calculated to assess generalization ability.</a:t>
            </a:r>
            <a:br>
              <a:rPr lang="en-US" dirty="0"/>
            </a:br>
            <a:br>
              <a:rPr lang="fr-FR" dirty="0"/>
            </a:br>
            <a:br>
              <a:rPr lang="en-US" dirty="0"/>
            </a:br>
            <a:br>
              <a:rPr lang="en-US" sz="1600" dirty="0"/>
            </a:br>
            <a:br>
              <a:rPr lang="en-US" dirty="0"/>
            </a:br>
            <a:br>
              <a:rPr lang="fr-FR" sz="1600" dirty="0"/>
            </a:br>
            <a:br>
              <a:rPr lang="fr-FR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1228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ED642B1F-86B2-60A5-451B-100199CED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66300018-435D-F945-6779-2C2631A5C23F}"/>
              </a:ext>
            </a:extLst>
          </p:cNvPr>
          <p:cNvSpPr/>
          <p:nvPr/>
        </p:nvSpPr>
        <p:spPr>
          <a:xfrm>
            <a:off x="5499" y="-17775"/>
            <a:ext cx="3520625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D4136558-C25D-9E12-F881-F17613D060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330" y="1369383"/>
            <a:ext cx="2988031" cy="185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dirty="0"/>
              <a:t>Evaluation et comparaison des modèles</a:t>
            </a:r>
            <a:br>
              <a:rPr lang="fr-FR" dirty="0"/>
            </a:br>
            <a:br>
              <a:rPr lang="en-US" dirty="0"/>
            </a:br>
            <a:br>
              <a:rPr lang="fr-FR" dirty="0"/>
            </a:br>
            <a:br>
              <a:rPr lang="en-US" dirty="0"/>
            </a:br>
            <a:br>
              <a:rPr lang="fr-FR" dirty="0"/>
            </a:br>
            <a:br>
              <a:rPr lang="fr-FR" b="1" dirty="0"/>
            </a:br>
            <a:b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endParaRPr sz="240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043A57F9-4A1F-D430-FEA6-30310DBE76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184E04A7-6DCB-FAF8-0D66-F4C55D80D0DE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588119" y="579248"/>
            <a:ext cx="5455142" cy="44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b="1" noProof="0" dirty="0" err="1"/>
              <a:t>Ultra-Simple</a:t>
            </a:r>
            <a:r>
              <a:rPr lang="fr-FR" sz="1400" b="1" noProof="0" dirty="0"/>
              <a:t> NN</a:t>
            </a:r>
            <a:br>
              <a:rPr lang="fr-FR" sz="1400" b="1" noProof="0" dirty="0"/>
            </a:br>
            <a:br>
              <a:rPr lang="fr-FR" sz="1400" b="1" noProof="0" dirty="0"/>
            </a:br>
            <a:r>
              <a:rPr lang="fr-FR" sz="1400" noProof="0" dirty="0"/>
              <a:t>Sachant que les deux modèles sont efficaces, il vaut mieux choisir le modèle plus simple: </a:t>
            </a:r>
            <a:r>
              <a:rPr lang="fr-FR" sz="1400" b="1" noProof="0" dirty="0" err="1"/>
              <a:t>Ultra-Simple</a:t>
            </a:r>
            <a:r>
              <a:rPr lang="fr-FR" sz="1400" b="1" noProof="0" dirty="0"/>
              <a:t> Neural Network </a:t>
            </a:r>
            <a:r>
              <a:rPr lang="fr-FR" sz="1400" noProof="0" dirty="0"/>
              <a:t>car il compte deux fois moins de paramètres tout en obtenant les résultats comparables ce qui allège les ressources de calcul pour la détection des spams.</a:t>
            </a:r>
            <a:br>
              <a:rPr lang="fr-FR" sz="1400" noProof="0" dirty="0"/>
            </a:br>
            <a:br>
              <a:rPr lang="fr-FR" sz="1600" noProof="0" dirty="0"/>
            </a:br>
            <a:br>
              <a:rPr lang="fr-FR" noProof="0" dirty="0"/>
            </a:br>
            <a:br>
              <a:rPr lang="fr-FR" sz="1600" noProof="0" dirty="0"/>
            </a:br>
            <a:br>
              <a:rPr lang="fr-FR" noProof="0" dirty="0"/>
            </a:br>
            <a:endParaRPr lang="fr-FR" sz="1600" noProof="0" dirty="0"/>
          </a:p>
        </p:txBody>
      </p:sp>
      <p:pic>
        <p:nvPicPr>
          <p:cNvPr id="3" name="Image 2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C702E82C-DF40-71D0-AE1B-AB16CE574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8512" y="2298266"/>
            <a:ext cx="2049308" cy="1942716"/>
          </a:xfrm>
          <a:prstGeom prst="rect">
            <a:avLst/>
          </a:prstGeom>
        </p:spPr>
      </p:pic>
      <p:pic>
        <p:nvPicPr>
          <p:cNvPr id="5" name="Image 4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4F46F44E-8250-E270-299C-6F5BD20E1F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2760" y="2199020"/>
            <a:ext cx="2049308" cy="199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90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32A60FE-CE44-2D5D-F927-68E8F986E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AEB06251-4C00-E127-1784-CB2CFBF0F74A}"/>
              </a:ext>
            </a:extLst>
          </p:cNvPr>
          <p:cNvSpPr/>
          <p:nvPr/>
        </p:nvSpPr>
        <p:spPr>
          <a:xfrm>
            <a:off x="0" y="0"/>
            <a:ext cx="3394128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EDAB21DF-DBB6-1D1D-7F45-E7FB4B302E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736" y="1339409"/>
            <a:ext cx="2988031" cy="2464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dirty="0"/>
              <a:t>Démonstration de  prédiction sur de nouveaux messages</a:t>
            </a:r>
            <a:br>
              <a:rPr lang="fr-FR" b="1" dirty="0"/>
            </a:br>
            <a:br>
              <a:rPr lang="fr-FR" b="1" dirty="0"/>
            </a:br>
            <a:br>
              <a:rPr lang="fr-FR" dirty="0"/>
            </a:br>
            <a:br>
              <a:rPr lang="fr-FR" sz="1600" dirty="0"/>
            </a:br>
            <a:br>
              <a:rPr lang="fr-FR" dirty="0"/>
            </a:br>
            <a: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240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BCD40087-BD10-15D8-807B-1925094AEB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1C97D40E-73C8-AA7E-992B-85A63F27D87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518114" y="1278611"/>
            <a:ext cx="5415136" cy="284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600" noProof="0" dirty="0"/>
              <a:t>Exemples de prédiction:</a:t>
            </a:r>
            <a:br>
              <a:rPr lang="en-US" sz="1600" dirty="0"/>
            </a:br>
            <a:br>
              <a:rPr lang="en-US" sz="1600" dirty="0"/>
            </a:br>
            <a:r>
              <a:rPr lang="en-US" sz="1400" b="1" dirty="0"/>
              <a:t>Message 1 (Ham)</a:t>
            </a:r>
            <a:r>
              <a:rPr lang="en-US" sz="1400" dirty="0"/>
              <a:t>: "Hey, are you free for dinner tonight?"</a:t>
            </a:r>
            <a:br>
              <a:rPr lang="en-US" sz="1400" dirty="0"/>
            </a:br>
            <a:r>
              <a:rPr lang="en-US" sz="1400" b="1" dirty="0"/>
              <a:t>Prediction</a:t>
            </a:r>
            <a:r>
              <a:rPr lang="en-US" sz="1400" dirty="0"/>
              <a:t>: HAM</a:t>
            </a:r>
            <a:br>
              <a:rPr lang="en-US" sz="1400" dirty="0"/>
            </a:br>
            <a:r>
              <a:rPr lang="en-US" sz="1400" b="1" dirty="0"/>
              <a:t>Confidence</a:t>
            </a:r>
            <a:r>
              <a:rPr lang="en-US" sz="1400" dirty="0"/>
              <a:t>: Very Low Spam Probability (e.g., 0.0%)</a:t>
            </a: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r>
              <a:rPr lang="en-US" sz="1400" b="1" dirty="0"/>
              <a:t>Message 2 (Spam)</a:t>
            </a:r>
            <a:r>
              <a:rPr lang="en-US" sz="1400" dirty="0"/>
              <a:t>: "FREE! Win cash prizes now! Call 555-123-4567 to claim your reward!"</a:t>
            </a:r>
            <a:br>
              <a:rPr lang="en-US" sz="1400" dirty="0"/>
            </a:br>
            <a:r>
              <a:rPr lang="en-US" sz="1400" b="1" dirty="0"/>
              <a:t>Prediction</a:t>
            </a:r>
            <a:r>
              <a:rPr lang="en-US" sz="1400" dirty="0"/>
              <a:t>: SPAM</a:t>
            </a:r>
            <a:br>
              <a:rPr lang="en-US" sz="1400" dirty="0"/>
            </a:br>
            <a:r>
              <a:rPr lang="en-US" sz="1400" b="1" dirty="0"/>
              <a:t>Confidence</a:t>
            </a:r>
            <a:r>
              <a:rPr lang="en-US" sz="1400" dirty="0"/>
              <a:t>: Very High Spam Probability (e.g., 100.0%)</a:t>
            </a:r>
            <a:br>
              <a:rPr lang="en-US" dirty="0"/>
            </a:br>
            <a:br>
              <a:rPr lang="fr-FR" dirty="0"/>
            </a:br>
            <a:br>
              <a:rPr lang="fr-FR" sz="1800" dirty="0"/>
            </a:br>
            <a:br>
              <a:rPr lang="fr-FR" sz="1600" dirty="0"/>
            </a:br>
            <a:br>
              <a:rPr lang="fr-FR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4683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E504EBF6-9826-B1AE-7B36-CD6D25B9A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9EAE69F7-7650-D0A5-12D4-9057103CA327}"/>
              </a:ext>
            </a:extLst>
          </p:cNvPr>
          <p:cNvSpPr/>
          <p:nvPr/>
        </p:nvSpPr>
        <p:spPr>
          <a:xfrm>
            <a:off x="28676" y="0"/>
            <a:ext cx="3721914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A9C62CD8-43C0-5503-91D2-225360A4F6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6098" y="1351608"/>
            <a:ext cx="3088771" cy="13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Perspectives d’évolution</a:t>
            </a:r>
            <a:br>
              <a:rPr lang="fr-FR" dirty="0"/>
            </a:br>
            <a:br>
              <a:rPr lang="fr-FR" sz="1600" dirty="0"/>
            </a:br>
            <a:br>
              <a:rPr lang="fr-FR" dirty="0"/>
            </a:br>
            <a: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240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13759441-5F3C-A7C0-45B5-C89CC39328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F7EE2403-E4EB-B78E-6AE5-139AFB182663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872289" y="868756"/>
            <a:ext cx="4865613" cy="3703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fr-FR" sz="1100" noProof="0" dirty="0"/>
            </a:br>
            <a:r>
              <a:rPr lang="fr-FR" sz="1800" noProof="0" dirty="0"/>
              <a:t>1. Explorer des architectures NN plus avancées</a:t>
            </a:r>
            <a:br>
              <a:rPr lang="fr-FR" sz="1800" noProof="0" dirty="0"/>
            </a:br>
            <a:r>
              <a:rPr lang="fr-FR" sz="1800" noProof="0" dirty="0"/>
              <a:t>2. Expérimenter un autre modèle d’</a:t>
            </a:r>
            <a:r>
              <a:rPr lang="fr-FR" sz="1800" noProof="0" dirty="0" err="1"/>
              <a:t>embedding</a:t>
            </a:r>
            <a:r>
              <a:rPr lang="fr-FR" sz="1800" noProof="0" dirty="0"/>
              <a:t> (Sentence Transformer, BERT ou autres)</a:t>
            </a:r>
            <a:br>
              <a:rPr lang="fr-FR" sz="1800" noProof="0" dirty="0"/>
            </a:br>
            <a:r>
              <a:rPr lang="fr-FR" sz="1800" noProof="0" dirty="0"/>
              <a:t>3. Fine-tuning du modèle de Sentence Transformers </a:t>
            </a:r>
            <a:br>
              <a:rPr lang="fr-FR" sz="1800" noProof="0" dirty="0"/>
            </a:br>
            <a:r>
              <a:rPr lang="fr-FR" sz="1800" noProof="0" dirty="0"/>
              <a:t>4. Ingénieries des variables plus poussées</a:t>
            </a:r>
            <a:br>
              <a:rPr lang="fr-FR" sz="1800" noProof="0" dirty="0"/>
            </a:br>
            <a:r>
              <a:rPr lang="fr-FR" sz="1800" noProof="0" dirty="0"/>
              <a:t>5. Expansion du jeu de données </a:t>
            </a:r>
            <a:br>
              <a:rPr lang="fr-FR" sz="1800" noProof="0" dirty="0"/>
            </a:br>
            <a:r>
              <a:rPr lang="fr-FR" sz="1800" noProof="0" dirty="0"/>
              <a:t>6. Déploiement du modèle pour utilisation en temps réel</a:t>
            </a:r>
            <a:br>
              <a:rPr lang="fr-FR" sz="1600" noProof="0" dirty="0"/>
            </a:br>
            <a:br>
              <a:rPr lang="fr-FR" sz="1100" noProof="0" dirty="0"/>
            </a:br>
            <a:br>
              <a:rPr lang="fr-FR" noProof="0" dirty="0"/>
            </a:br>
            <a:endParaRPr lang="fr-FR" sz="1600" noProof="0" dirty="0"/>
          </a:p>
        </p:txBody>
      </p:sp>
      <p:pic>
        <p:nvPicPr>
          <p:cNvPr id="3" name="Graphique 2" descr="Internet des objets contour">
            <a:extLst>
              <a:ext uri="{FF2B5EF4-FFF2-40B4-BE49-F238E27FC236}">
                <a16:creationId xmlns:a16="http://schemas.microsoft.com/office/drawing/2014/main" id="{6A99CE5C-63B1-A8C1-3563-3EE32F7812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0275" y="2809537"/>
            <a:ext cx="1367407" cy="136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07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421EBDBE-DFA0-FA99-7971-8FC70D84C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C54FC5DD-3474-EB26-3008-5F0B8DA84FFC}"/>
              </a:ext>
            </a:extLst>
          </p:cNvPr>
          <p:cNvSpPr/>
          <p:nvPr/>
        </p:nvSpPr>
        <p:spPr>
          <a:xfrm>
            <a:off x="28676" y="0"/>
            <a:ext cx="3404199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D566050B-8EDB-6CEE-BF30-3120A6C04E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6097" y="1030187"/>
            <a:ext cx="3088771" cy="1647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noProof="0" dirty="0"/>
              <a:t>Résumé du projet</a:t>
            </a:r>
            <a:br>
              <a:rPr lang="en-US" dirty="0"/>
            </a:br>
            <a:br>
              <a:rPr lang="fr-FR" dirty="0"/>
            </a:br>
            <a:br>
              <a:rPr lang="fr-FR" sz="1600" dirty="0"/>
            </a:br>
            <a:br>
              <a:rPr lang="fr-FR" dirty="0"/>
            </a:br>
            <a: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240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AD73B007-0D76-5C5F-A7F8-93B3D44EDF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DAD475D8-DC1E-8EDD-098C-2B3F13D79FAB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494868" y="1030187"/>
            <a:ext cx="5316836" cy="333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br>
              <a:rPr lang="fr-FR" sz="1600" noProof="0" dirty="0"/>
            </a:br>
            <a:r>
              <a:rPr lang="fr-FR" sz="1600" noProof="0" dirty="0"/>
              <a:t>Dans ce projet nous avons développé un </a:t>
            </a:r>
            <a:r>
              <a:rPr lang="fr-FR" sz="1600" b="1" noProof="0" dirty="0"/>
              <a:t>détecteur de spam </a:t>
            </a:r>
            <a:r>
              <a:rPr lang="fr-FR" sz="1600" noProof="0" dirty="0"/>
              <a:t>efficace en combinant un modèle d’</a:t>
            </a:r>
            <a:r>
              <a:rPr lang="fr-FR" sz="1600" noProof="0" dirty="0" err="1"/>
              <a:t>embedding</a:t>
            </a:r>
            <a:r>
              <a:rPr lang="fr-FR" sz="1600" noProof="0" dirty="0"/>
              <a:t> existant avec des réseaux de neurones utilisés pour la classification binaire. </a:t>
            </a:r>
            <a:br>
              <a:rPr lang="fr-FR" sz="1600" noProof="0" dirty="0"/>
            </a:br>
            <a:br>
              <a:rPr lang="fr-FR" sz="1600" noProof="0" dirty="0"/>
            </a:br>
            <a:br>
              <a:rPr lang="fr-FR" sz="1600" noProof="0" dirty="0"/>
            </a:br>
            <a:r>
              <a:rPr lang="fr-FR" sz="1600" noProof="0" dirty="0"/>
              <a:t>Le modèle choisi est </a:t>
            </a:r>
            <a:r>
              <a:rPr lang="fr-FR" sz="1600" b="1" noProof="0" dirty="0" err="1"/>
              <a:t>Ultra-Simple</a:t>
            </a:r>
            <a:r>
              <a:rPr lang="fr-FR" sz="1600" b="1" noProof="0" dirty="0"/>
              <a:t> Neural Network </a:t>
            </a:r>
            <a:r>
              <a:rPr lang="fr-FR" sz="1600" noProof="0" dirty="0"/>
              <a:t>en raison de sa simplicité et l’efficacité comparable avec le modèle plus complexe. Ceci pour alléger les ressources de calcul et assurer la performance des prédictions. </a:t>
            </a:r>
            <a:br>
              <a:rPr lang="fr-FR" sz="1600" noProof="0" dirty="0"/>
            </a:br>
            <a:br>
              <a:rPr lang="fr-FR" sz="1100" noProof="0" dirty="0"/>
            </a:br>
            <a:br>
              <a:rPr lang="fr-FR" noProof="0" dirty="0"/>
            </a:br>
            <a:endParaRPr lang="fr-FR" sz="1600" noProof="0" dirty="0"/>
          </a:p>
        </p:txBody>
      </p:sp>
      <p:pic>
        <p:nvPicPr>
          <p:cNvPr id="3" name="Graphique 2" descr="Selfie avec un remplissage uni">
            <a:extLst>
              <a:ext uri="{FF2B5EF4-FFF2-40B4-BE49-F238E27FC236}">
                <a16:creationId xmlns:a16="http://schemas.microsoft.com/office/drawing/2014/main" id="{F61AB983-029C-9B4A-4836-C5EF76783B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3075" y="2839317"/>
            <a:ext cx="914400" cy="914400"/>
          </a:xfrm>
          <a:prstGeom prst="rect">
            <a:avLst/>
          </a:prstGeom>
        </p:spPr>
      </p:pic>
      <p:pic>
        <p:nvPicPr>
          <p:cNvPr id="6" name="Graphique 5" descr="Selfie contour">
            <a:extLst>
              <a:ext uri="{FF2B5EF4-FFF2-40B4-BE49-F238E27FC236}">
                <a16:creationId xmlns:a16="http://schemas.microsoft.com/office/drawing/2014/main" id="{AA7B4D0B-957F-B06B-9091-0E82F06A4D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53373" y="28706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28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774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ctrTitle" idx="4294967295"/>
          </p:nvPr>
        </p:nvSpPr>
        <p:spPr>
          <a:xfrm>
            <a:off x="1354525" y="875630"/>
            <a:ext cx="6362700" cy="3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3200" b="0" i="0" u="none" strike="noStrike" cap="none" dirty="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“</a:t>
            </a:r>
            <a:r>
              <a:rPr lang="fr-FR" sz="3200" b="0" i="0" u="none" strike="noStrike" cap="none" dirty="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La communication est une science difficile. Ce n'est pas une science exacte. Ca s'apprend et ça se cultive.</a:t>
            </a:r>
            <a:r>
              <a:rPr lang="fr" sz="3200" b="0" i="0" u="none" strike="noStrike" cap="none" dirty="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”</a:t>
            </a:r>
            <a:endParaRPr sz="3200" b="0" i="0" u="none" strike="noStrike" cap="none" dirty="0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4" name="Google Shape;104;p18"/>
          <p:cNvSpPr txBox="1">
            <a:spLocks noGrp="1"/>
          </p:cNvSpPr>
          <p:nvPr>
            <p:ph type="ctrTitle" idx="4294967295"/>
          </p:nvPr>
        </p:nvSpPr>
        <p:spPr>
          <a:xfrm>
            <a:off x="463375" y="4530825"/>
            <a:ext cx="81450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10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Jean-Luc Lagardère, homme d’affaires français</a:t>
            </a:r>
            <a:endParaRPr sz="1000" b="0" i="0" u="none" strike="noStrike" cap="none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0"/>
            <a:ext cx="576900" cy="392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Merci! 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>
            <a:spLocks noGrp="1"/>
          </p:cNvSpPr>
          <p:nvPr>
            <p:ph type="ctrTitle" idx="4294967295"/>
          </p:nvPr>
        </p:nvSpPr>
        <p:spPr>
          <a:xfrm>
            <a:off x="1274764" y="2606043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dirty="0">
                <a:solidFill>
                  <a:srgbClr val="0E3449"/>
                </a:solidFill>
                <a:latin typeface="Inter Medium"/>
                <a:ea typeface="Inter Medium"/>
                <a:cs typeface="Inter Medium"/>
                <a:sym typeface="Inter Medium"/>
              </a:rPr>
              <a:t>Avez-vous des questions?</a:t>
            </a:r>
            <a:endParaRPr sz="2400" dirty="0">
              <a:solidFill>
                <a:srgbClr val="0E344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19292</TotalTime>
  <Words>1400</Words>
  <Application>Microsoft Office PowerPoint</Application>
  <PresentationFormat>Affichage à l'écran (16:9)</PresentationFormat>
  <Paragraphs>39</Paragraphs>
  <Slides>17</Slides>
  <Notes>17</Notes>
  <HiddenSlides>2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Inter</vt:lpstr>
      <vt:lpstr>Libre Baskerville</vt:lpstr>
      <vt:lpstr>Inter Medium</vt:lpstr>
      <vt:lpstr>Arial</vt:lpstr>
      <vt:lpstr>Inter SemiBold</vt:lpstr>
      <vt:lpstr>Simple Light</vt:lpstr>
      <vt:lpstr>  Concepteur développeur en science des données  Machine Learning Engineer</vt:lpstr>
      <vt:lpstr>Projet AT&amp;T Détecteur de spam  Analyse prédictive de données non-structurées par l'intelligence artificielle  (apprentissage profond)  </vt:lpstr>
      <vt:lpstr>Objectif du projet</vt:lpstr>
      <vt:lpstr>Méthode  Approche hybride:  Apprentissage par transfert + Ingénierie des variables+ Apprentissage profond   </vt:lpstr>
      <vt:lpstr>Exploratory Data Analysis (EDA) &amp; Insights  Key Findings    </vt:lpstr>
      <vt:lpstr>Analyse exploratoire des données (EDA)  Visualisations et Observations    </vt:lpstr>
      <vt:lpstr>Ingénierie des variables spécifiques au domaine   Mots clés dans les spams      </vt:lpstr>
      <vt:lpstr>Embedding du texte avec Sentence Transformers  - Convertir le texte en vecteurs sémantiques   </vt:lpstr>
      <vt:lpstr>Architecture des modèles neuronaux   - 2 réseaux neuronaux à propagation directe pour une classification binaire efficace   </vt:lpstr>
      <vt:lpstr>Architecture des modèles neuronaux   - 2 réseaux neuronaux à propagation directe pour une classification binaire efficace   </vt:lpstr>
      <vt:lpstr>Processus d’entraînement et ponderation des classes   - Aspects clés de l’entraînement    </vt:lpstr>
      <vt:lpstr>Evaluation et comparaison des modèles        </vt:lpstr>
      <vt:lpstr>Démonstration de  prédiction sur de nouveaux messages      </vt:lpstr>
      <vt:lpstr>Perspectives d’évolution    </vt:lpstr>
      <vt:lpstr>Résumé du projet     </vt:lpstr>
      <vt:lpstr>“La communication est une science difficile. Ce n'est pas une science exacte. Ca s'apprend et ça se cultive.”</vt:lpstr>
      <vt:lpstr>Merci!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Agnieszka Heijligers</dc:creator>
  <cp:lastModifiedBy>Agnieszka Heijligers</cp:lastModifiedBy>
  <cp:revision>28</cp:revision>
  <dcterms:modified xsi:type="dcterms:W3CDTF">2026-01-08T15:07:32Z</dcterms:modified>
</cp:coreProperties>
</file>
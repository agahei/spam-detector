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21"/>
  </p:notesMasterIdLst>
  <p:sldIdLst>
    <p:sldId id="256" r:id="rId2"/>
    <p:sldId id="257" r:id="rId3"/>
    <p:sldId id="258" r:id="rId4"/>
    <p:sldId id="266" r:id="rId5"/>
    <p:sldId id="259" r:id="rId6"/>
    <p:sldId id="267" r:id="rId7"/>
    <p:sldId id="271" r:id="rId8"/>
    <p:sldId id="263" r:id="rId9"/>
    <p:sldId id="269" r:id="rId10"/>
    <p:sldId id="268" r:id="rId11"/>
    <p:sldId id="270" r:id="rId12"/>
    <p:sldId id="272" r:id="rId13"/>
    <p:sldId id="273" r:id="rId14"/>
    <p:sldId id="274" r:id="rId15"/>
    <p:sldId id="265" r:id="rId16"/>
    <p:sldId id="275" r:id="rId17"/>
    <p:sldId id="276" r:id="rId18"/>
    <p:sldId id="261" r:id="rId19"/>
    <p:sldId id="262" r:id="rId20"/>
  </p:sldIdLst>
  <p:sldSz cx="9144000" cy="5143500" type="screen16x9"/>
  <p:notesSz cx="6858000" cy="9144000"/>
  <p:embeddedFontLst>
    <p:embeddedFont>
      <p:font typeface="Inter" panose="020B0604020202020204" charset="0"/>
      <p:regular r:id="rId22"/>
      <p:bold r:id="rId23"/>
      <p:italic r:id="rId24"/>
      <p:boldItalic r:id="rId25"/>
    </p:embeddedFont>
    <p:embeddedFont>
      <p:font typeface="Inter Medium" panose="020B0604020202020204" charset="0"/>
      <p:regular r:id="rId26"/>
      <p:bold r:id="rId27"/>
      <p:italic r:id="rId28"/>
      <p:boldItalic r:id="rId29"/>
    </p:embeddedFont>
    <p:embeddedFont>
      <p:font typeface="Inter SemiBold" panose="020B0604020202020204" charset="0"/>
      <p:regular r:id="rId30"/>
      <p:bold r:id="rId31"/>
      <p:italic r:id="rId32"/>
      <p:boldItalic r:id="rId33"/>
    </p:embeddedFont>
    <p:embeddedFont>
      <p:font typeface="Libre Baskerville" panose="02000000000000000000" pitchFamily="2" charset="0"/>
      <p:regular r:id="rId34"/>
      <p:bold r:id="rId35"/>
      <p:italic r:id="rId36"/>
      <p:boldItalic r:id="rId3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2" d="100"/>
          <a:sy n="82" d="100"/>
        </p:scale>
        <p:origin x="820" y="28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5.fntdata"/><Relationship Id="rId39" Type="http://schemas.openxmlformats.org/officeDocument/2006/relationships/viewProps" Target="viewProps.xml"/><Relationship Id="rId21" Type="http://schemas.openxmlformats.org/officeDocument/2006/relationships/notesMaster" Target="notesMasters/notesMaster1.xml"/><Relationship Id="rId34" Type="http://schemas.openxmlformats.org/officeDocument/2006/relationships/font" Target="fonts/font13.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8.fntdata"/><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3.fntdata"/><Relationship Id="rId32" Type="http://schemas.openxmlformats.org/officeDocument/2006/relationships/font" Target="fonts/font11.fntdata"/><Relationship Id="rId37" Type="http://schemas.openxmlformats.org/officeDocument/2006/relationships/font" Target="fonts/font16.fntdata"/><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2.fntdata"/><Relationship Id="rId28" Type="http://schemas.openxmlformats.org/officeDocument/2006/relationships/font" Target="fonts/font7.fntdata"/><Relationship Id="rId36" Type="http://schemas.openxmlformats.org/officeDocument/2006/relationships/font" Target="fonts/font15.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10.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1.fntdata"/><Relationship Id="rId27" Type="http://schemas.openxmlformats.org/officeDocument/2006/relationships/font" Target="fonts/font6.fntdata"/><Relationship Id="rId30" Type="http://schemas.openxmlformats.org/officeDocument/2006/relationships/font" Target="fonts/font9.fntdata"/><Relationship Id="rId35" Type="http://schemas.openxmlformats.org/officeDocument/2006/relationships/font" Target="fonts/font14.fnt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4.fntdata"/><Relationship Id="rId33" Type="http://schemas.openxmlformats.org/officeDocument/2006/relationships/font" Target="fonts/font12.fntdata"/><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g377af7a6af_0_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377af7a6af_0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
        <p:cNvGrpSpPr/>
        <p:nvPr/>
      </p:nvGrpSpPr>
      <p:grpSpPr>
        <a:xfrm>
          <a:off x="0" y="0"/>
          <a:ext cx="0" cy="0"/>
          <a:chOff x="0" y="0"/>
          <a:chExt cx="0" cy="0"/>
        </a:xfrm>
      </p:grpSpPr>
      <p:sp>
        <p:nvSpPr>
          <p:cNvPr id="59" name="Google Shape;59;g3bc3b886ea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 name="Google Shape;60;g3bc3b886ea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3bc3b886ea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3bc3b886ea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
          <a:extLst>
            <a:ext uri="{FF2B5EF4-FFF2-40B4-BE49-F238E27FC236}">
              <a16:creationId xmlns:a16="http://schemas.microsoft.com/office/drawing/2014/main" id="{509ED30F-D5C5-F2E5-0F0D-EA2B9CAA5B42}"/>
            </a:ext>
          </a:extLst>
        </p:cNvPr>
        <p:cNvGrpSpPr/>
        <p:nvPr/>
      </p:nvGrpSpPr>
      <p:grpSpPr>
        <a:xfrm>
          <a:off x="0" y="0"/>
          <a:ext cx="0" cy="0"/>
          <a:chOff x="0" y="0"/>
          <a:chExt cx="0" cy="0"/>
        </a:xfrm>
      </p:grpSpPr>
      <p:sp>
        <p:nvSpPr>
          <p:cNvPr id="78" name="Google Shape;78;gf4f11f959e_0_5:notes">
            <a:extLst>
              <a:ext uri="{FF2B5EF4-FFF2-40B4-BE49-F238E27FC236}">
                <a16:creationId xmlns:a16="http://schemas.microsoft.com/office/drawing/2014/main" id="{ED1724A9-73AA-3C99-D0E7-C053813047C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9" name="Google Shape;79;gf4f11f959e_0_5:notes">
            <a:extLst>
              <a:ext uri="{FF2B5EF4-FFF2-40B4-BE49-F238E27FC236}">
                <a16:creationId xmlns:a16="http://schemas.microsoft.com/office/drawing/2014/main" id="{46951181-0883-5CA9-169E-F580B3F5A62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86193243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
        <p:cNvGrpSpPr/>
        <p:nvPr/>
      </p:nvGrpSpPr>
      <p:grpSpPr>
        <a:xfrm>
          <a:off x="0" y="0"/>
          <a:ext cx="0" cy="0"/>
          <a:chOff x="0" y="0"/>
          <a:chExt cx="0" cy="0"/>
        </a:xfrm>
      </p:grpSpPr>
      <p:sp>
        <p:nvSpPr>
          <p:cNvPr id="78" name="Google Shape;78;gf4f11f959e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9" name="Google Shape;79;gf4f11f959e_0_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
          <a:extLst>
            <a:ext uri="{FF2B5EF4-FFF2-40B4-BE49-F238E27FC236}">
              <a16:creationId xmlns:a16="http://schemas.microsoft.com/office/drawing/2014/main" id="{D844353A-E0F5-A023-B1C9-419085574A06}"/>
            </a:ext>
          </a:extLst>
        </p:cNvPr>
        <p:cNvGrpSpPr/>
        <p:nvPr/>
      </p:nvGrpSpPr>
      <p:grpSpPr>
        <a:xfrm>
          <a:off x="0" y="0"/>
          <a:ext cx="0" cy="0"/>
          <a:chOff x="0" y="0"/>
          <a:chExt cx="0" cy="0"/>
        </a:xfrm>
      </p:grpSpPr>
      <p:sp>
        <p:nvSpPr>
          <p:cNvPr id="78" name="Google Shape;78;gf4f11f959e_0_5:notes">
            <a:extLst>
              <a:ext uri="{FF2B5EF4-FFF2-40B4-BE49-F238E27FC236}">
                <a16:creationId xmlns:a16="http://schemas.microsoft.com/office/drawing/2014/main" id="{1CAB6C14-9E7B-45A3-8E0C-622F7CF7C86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9" name="Google Shape;79;gf4f11f959e_0_5:notes">
            <a:extLst>
              <a:ext uri="{FF2B5EF4-FFF2-40B4-BE49-F238E27FC236}">
                <a16:creationId xmlns:a16="http://schemas.microsoft.com/office/drawing/2014/main" id="{67ABA0BB-9C20-21AD-8A3C-7466BB98FFB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26179964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
          <a:extLst>
            <a:ext uri="{FF2B5EF4-FFF2-40B4-BE49-F238E27FC236}">
              <a16:creationId xmlns:a16="http://schemas.microsoft.com/office/drawing/2014/main" id="{57AFCA1D-53D3-9FAE-B9E2-FA8311EA2305}"/>
            </a:ext>
          </a:extLst>
        </p:cNvPr>
        <p:cNvGrpSpPr/>
        <p:nvPr/>
      </p:nvGrpSpPr>
      <p:grpSpPr>
        <a:xfrm>
          <a:off x="0" y="0"/>
          <a:ext cx="0" cy="0"/>
          <a:chOff x="0" y="0"/>
          <a:chExt cx="0" cy="0"/>
        </a:xfrm>
      </p:grpSpPr>
      <p:sp>
        <p:nvSpPr>
          <p:cNvPr id="78" name="Google Shape;78;gf4f11f959e_0_5:notes">
            <a:extLst>
              <a:ext uri="{FF2B5EF4-FFF2-40B4-BE49-F238E27FC236}">
                <a16:creationId xmlns:a16="http://schemas.microsoft.com/office/drawing/2014/main" id="{8FDDF2F8-27F8-A852-7012-C2F1E48FCDD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9" name="Google Shape;79;gf4f11f959e_0_5:notes">
            <a:extLst>
              <a:ext uri="{FF2B5EF4-FFF2-40B4-BE49-F238E27FC236}">
                <a16:creationId xmlns:a16="http://schemas.microsoft.com/office/drawing/2014/main" id="{100B94D7-F824-E1B7-1476-B353ADFAEDAE}"/>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90775181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
          <a:extLst>
            <a:ext uri="{FF2B5EF4-FFF2-40B4-BE49-F238E27FC236}">
              <a16:creationId xmlns:a16="http://schemas.microsoft.com/office/drawing/2014/main" id="{288697A0-B0A7-C461-69B7-31F205B5EAB4}"/>
            </a:ext>
          </a:extLst>
        </p:cNvPr>
        <p:cNvGrpSpPr/>
        <p:nvPr/>
      </p:nvGrpSpPr>
      <p:grpSpPr>
        <a:xfrm>
          <a:off x="0" y="0"/>
          <a:ext cx="0" cy="0"/>
          <a:chOff x="0" y="0"/>
          <a:chExt cx="0" cy="0"/>
        </a:xfrm>
      </p:grpSpPr>
      <p:sp>
        <p:nvSpPr>
          <p:cNvPr id="78" name="Google Shape;78;gf4f11f959e_0_5:notes">
            <a:extLst>
              <a:ext uri="{FF2B5EF4-FFF2-40B4-BE49-F238E27FC236}">
                <a16:creationId xmlns:a16="http://schemas.microsoft.com/office/drawing/2014/main" id="{F4D10084-4AE2-22D4-603B-73EC79EC93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9" name="Google Shape;79;gf4f11f959e_0_5:notes">
            <a:extLst>
              <a:ext uri="{FF2B5EF4-FFF2-40B4-BE49-F238E27FC236}">
                <a16:creationId xmlns:a16="http://schemas.microsoft.com/office/drawing/2014/main" id="{51849818-76FE-C18D-4730-4553210D582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7826915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
          <a:extLst>
            <a:ext uri="{FF2B5EF4-FFF2-40B4-BE49-F238E27FC236}">
              <a16:creationId xmlns:a16="http://schemas.microsoft.com/office/drawing/2014/main" id="{B24EA8BE-02A1-A9CE-A3BF-C6073409B050}"/>
            </a:ext>
          </a:extLst>
        </p:cNvPr>
        <p:cNvGrpSpPr/>
        <p:nvPr/>
      </p:nvGrpSpPr>
      <p:grpSpPr>
        <a:xfrm>
          <a:off x="0" y="0"/>
          <a:ext cx="0" cy="0"/>
          <a:chOff x="0" y="0"/>
          <a:chExt cx="0" cy="0"/>
        </a:xfrm>
      </p:grpSpPr>
      <p:sp>
        <p:nvSpPr>
          <p:cNvPr id="78" name="Google Shape;78;gf4f11f959e_0_5:notes">
            <a:extLst>
              <a:ext uri="{FF2B5EF4-FFF2-40B4-BE49-F238E27FC236}">
                <a16:creationId xmlns:a16="http://schemas.microsoft.com/office/drawing/2014/main" id="{DBDED713-6153-59D3-89FE-C258073CA8F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9" name="Google Shape;79;gf4f11f959e_0_5:notes">
            <a:extLst>
              <a:ext uri="{FF2B5EF4-FFF2-40B4-BE49-F238E27FC236}">
                <a16:creationId xmlns:a16="http://schemas.microsoft.com/office/drawing/2014/main" id="{7352152E-6EB1-832D-4E9F-914B5EBF41E1}"/>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5520624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
          <a:extLst>
            <a:ext uri="{FF2B5EF4-FFF2-40B4-BE49-F238E27FC236}">
              <a16:creationId xmlns:a16="http://schemas.microsoft.com/office/drawing/2014/main" id="{367549F6-1459-3946-861F-D66F97354DA2}"/>
            </a:ext>
          </a:extLst>
        </p:cNvPr>
        <p:cNvGrpSpPr/>
        <p:nvPr/>
      </p:nvGrpSpPr>
      <p:grpSpPr>
        <a:xfrm>
          <a:off x="0" y="0"/>
          <a:ext cx="0" cy="0"/>
          <a:chOff x="0" y="0"/>
          <a:chExt cx="0" cy="0"/>
        </a:xfrm>
      </p:grpSpPr>
      <p:sp>
        <p:nvSpPr>
          <p:cNvPr id="78" name="Google Shape;78;gf4f11f959e_0_5:notes">
            <a:extLst>
              <a:ext uri="{FF2B5EF4-FFF2-40B4-BE49-F238E27FC236}">
                <a16:creationId xmlns:a16="http://schemas.microsoft.com/office/drawing/2014/main" id="{F2C90588-AE64-5AB1-12D5-A8061F278D3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9" name="Google Shape;79;gf4f11f959e_0_5:notes">
            <a:extLst>
              <a:ext uri="{FF2B5EF4-FFF2-40B4-BE49-F238E27FC236}">
                <a16:creationId xmlns:a16="http://schemas.microsoft.com/office/drawing/2014/main" id="{DC089E5E-AF95-CD97-3BD8-B3B0CAF625D1}"/>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9675545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
          <a:extLst>
            <a:ext uri="{FF2B5EF4-FFF2-40B4-BE49-F238E27FC236}">
              <a16:creationId xmlns:a16="http://schemas.microsoft.com/office/drawing/2014/main" id="{DE1F163D-9306-B63B-8A42-5A1B6E71D6FC}"/>
            </a:ext>
          </a:extLst>
        </p:cNvPr>
        <p:cNvGrpSpPr/>
        <p:nvPr/>
      </p:nvGrpSpPr>
      <p:grpSpPr>
        <a:xfrm>
          <a:off x="0" y="0"/>
          <a:ext cx="0" cy="0"/>
          <a:chOff x="0" y="0"/>
          <a:chExt cx="0" cy="0"/>
        </a:xfrm>
      </p:grpSpPr>
      <p:sp>
        <p:nvSpPr>
          <p:cNvPr id="78" name="Google Shape;78;gf4f11f959e_0_5:notes">
            <a:extLst>
              <a:ext uri="{FF2B5EF4-FFF2-40B4-BE49-F238E27FC236}">
                <a16:creationId xmlns:a16="http://schemas.microsoft.com/office/drawing/2014/main" id="{A44DE11A-7589-D211-54C0-A40875A23D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9" name="Google Shape;79;gf4f11f959e_0_5:notes">
            <a:extLst>
              <a:ext uri="{FF2B5EF4-FFF2-40B4-BE49-F238E27FC236}">
                <a16:creationId xmlns:a16="http://schemas.microsoft.com/office/drawing/2014/main" id="{D530E629-5E77-0266-BA72-704E4E7606B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531946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
          <a:extLst>
            <a:ext uri="{FF2B5EF4-FFF2-40B4-BE49-F238E27FC236}">
              <a16:creationId xmlns:a16="http://schemas.microsoft.com/office/drawing/2014/main" id="{63AE2DAD-61E3-9D75-845C-E230ED784869}"/>
            </a:ext>
          </a:extLst>
        </p:cNvPr>
        <p:cNvGrpSpPr/>
        <p:nvPr/>
      </p:nvGrpSpPr>
      <p:grpSpPr>
        <a:xfrm>
          <a:off x="0" y="0"/>
          <a:ext cx="0" cy="0"/>
          <a:chOff x="0" y="0"/>
          <a:chExt cx="0" cy="0"/>
        </a:xfrm>
      </p:grpSpPr>
      <p:sp>
        <p:nvSpPr>
          <p:cNvPr id="78" name="Google Shape;78;gf4f11f959e_0_5:notes">
            <a:extLst>
              <a:ext uri="{FF2B5EF4-FFF2-40B4-BE49-F238E27FC236}">
                <a16:creationId xmlns:a16="http://schemas.microsoft.com/office/drawing/2014/main" id="{ECD46BB2-B204-A5B5-50F9-3B7DEE8C04F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9" name="Google Shape;79;gf4f11f959e_0_5:notes">
            <a:extLst>
              <a:ext uri="{FF2B5EF4-FFF2-40B4-BE49-F238E27FC236}">
                <a16:creationId xmlns:a16="http://schemas.microsoft.com/office/drawing/2014/main" id="{624A2996-7478-BDEB-1023-270295A2CF2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8438557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
          <a:extLst>
            <a:ext uri="{FF2B5EF4-FFF2-40B4-BE49-F238E27FC236}">
              <a16:creationId xmlns:a16="http://schemas.microsoft.com/office/drawing/2014/main" id="{5FBAD69E-1856-3286-A896-3BCF5F5D3D11}"/>
            </a:ext>
          </a:extLst>
        </p:cNvPr>
        <p:cNvGrpSpPr/>
        <p:nvPr/>
      </p:nvGrpSpPr>
      <p:grpSpPr>
        <a:xfrm>
          <a:off x="0" y="0"/>
          <a:ext cx="0" cy="0"/>
          <a:chOff x="0" y="0"/>
          <a:chExt cx="0" cy="0"/>
        </a:xfrm>
      </p:grpSpPr>
      <p:sp>
        <p:nvSpPr>
          <p:cNvPr id="78" name="Google Shape;78;gf4f11f959e_0_5:notes">
            <a:extLst>
              <a:ext uri="{FF2B5EF4-FFF2-40B4-BE49-F238E27FC236}">
                <a16:creationId xmlns:a16="http://schemas.microsoft.com/office/drawing/2014/main" id="{2F1C803E-F844-C007-5F15-5676B99F3BA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9" name="Google Shape;79;gf4f11f959e_0_5:notes">
            <a:extLst>
              <a:ext uri="{FF2B5EF4-FFF2-40B4-BE49-F238E27FC236}">
                <a16:creationId xmlns:a16="http://schemas.microsoft.com/office/drawing/2014/main" id="{EB2AC066-9B5E-7E46-B2EC-62943BB41ECD}"/>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06630134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
          <a:extLst>
            <a:ext uri="{FF2B5EF4-FFF2-40B4-BE49-F238E27FC236}">
              <a16:creationId xmlns:a16="http://schemas.microsoft.com/office/drawing/2014/main" id="{E66714CB-0328-AADF-7A6C-F2EED746642A}"/>
            </a:ext>
          </a:extLst>
        </p:cNvPr>
        <p:cNvGrpSpPr/>
        <p:nvPr/>
      </p:nvGrpSpPr>
      <p:grpSpPr>
        <a:xfrm>
          <a:off x="0" y="0"/>
          <a:ext cx="0" cy="0"/>
          <a:chOff x="0" y="0"/>
          <a:chExt cx="0" cy="0"/>
        </a:xfrm>
      </p:grpSpPr>
      <p:sp>
        <p:nvSpPr>
          <p:cNvPr id="78" name="Google Shape;78;gf4f11f959e_0_5:notes">
            <a:extLst>
              <a:ext uri="{FF2B5EF4-FFF2-40B4-BE49-F238E27FC236}">
                <a16:creationId xmlns:a16="http://schemas.microsoft.com/office/drawing/2014/main" id="{4409C3C1-FA78-E144-2871-CB6AF5B6458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9" name="Google Shape;79;gf4f11f959e_0_5:notes">
            <a:extLst>
              <a:ext uri="{FF2B5EF4-FFF2-40B4-BE49-F238E27FC236}">
                <a16:creationId xmlns:a16="http://schemas.microsoft.com/office/drawing/2014/main" id="{2292C057-74F5-AC0B-F0A1-A7CE21EEA999}"/>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05237296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
          <a:extLst>
            <a:ext uri="{FF2B5EF4-FFF2-40B4-BE49-F238E27FC236}">
              <a16:creationId xmlns:a16="http://schemas.microsoft.com/office/drawing/2014/main" id="{061283EF-166A-B1E5-9609-6D2ABD40DA5E}"/>
            </a:ext>
          </a:extLst>
        </p:cNvPr>
        <p:cNvGrpSpPr/>
        <p:nvPr/>
      </p:nvGrpSpPr>
      <p:grpSpPr>
        <a:xfrm>
          <a:off x="0" y="0"/>
          <a:ext cx="0" cy="0"/>
          <a:chOff x="0" y="0"/>
          <a:chExt cx="0" cy="0"/>
        </a:xfrm>
      </p:grpSpPr>
      <p:sp>
        <p:nvSpPr>
          <p:cNvPr id="78" name="Google Shape;78;gf4f11f959e_0_5:notes">
            <a:extLst>
              <a:ext uri="{FF2B5EF4-FFF2-40B4-BE49-F238E27FC236}">
                <a16:creationId xmlns:a16="http://schemas.microsoft.com/office/drawing/2014/main" id="{0FE119F4-79BB-AE53-F69D-F6E9BC6A3A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9" name="Google Shape;79;gf4f11f959e_0_5:notes">
            <a:extLst>
              <a:ext uri="{FF2B5EF4-FFF2-40B4-BE49-F238E27FC236}">
                <a16:creationId xmlns:a16="http://schemas.microsoft.com/office/drawing/2014/main" id="{0267E9E8-0F25-3050-98C6-C79DDDFD05E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8410990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
          <a:extLst>
            <a:ext uri="{FF2B5EF4-FFF2-40B4-BE49-F238E27FC236}">
              <a16:creationId xmlns:a16="http://schemas.microsoft.com/office/drawing/2014/main" id="{8F89D219-57E6-3C30-FD85-D42353F44A72}"/>
            </a:ext>
          </a:extLst>
        </p:cNvPr>
        <p:cNvGrpSpPr/>
        <p:nvPr/>
      </p:nvGrpSpPr>
      <p:grpSpPr>
        <a:xfrm>
          <a:off x="0" y="0"/>
          <a:ext cx="0" cy="0"/>
          <a:chOff x="0" y="0"/>
          <a:chExt cx="0" cy="0"/>
        </a:xfrm>
      </p:grpSpPr>
      <p:sp>
        <p:nvSpPr>
          <p:cNvPr id="78" name="Google Shape;78;gf4f11f959e_0_5:notes">
            <a:extLst>
              <a:ext uri="{FF2B5EF4-FFF2-40B4-BE49-F238E27FC236}">
                <a16:creationId xmlns:a16="http://schemas.microsoft.com/office/drawing/2014/main" id="{5109E64C-7813-1AA6-A76B-6209847AAA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9" name="Google Shape;79;gf4f11f959e_0_5:notes">
            <a:extLst>
              <a:ext uri="{FF2B5EF4-FFF2-40B4-BE49-F238E27FC236}">
                <a16:creationId xmlns:a16="http://schemas.microsoft.com/office/drawing/2014/main" id="{CB6046AD-380C-C68A-F76E-5D24B863C50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51238583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
          <a:extLst>
            <a:ext uri="{FF2B5EF4-FFF2-40B4-BE49-F238E27FC236}">
              <a16:creationId xmlns:a16="http://schemas.microsoft.com/office/drawing/2014/main" id="{5E709C9F-BB38-41B0-034F-99C2DA7EA031}"/>
            </a:ext>
          </a:extLst>
        </p:cNvPr>
        <p:cNvGrpSpPr/>
        <p:nvPr/>
      </p:nvGrpSpPr>
      <p:grpSpPr>
        <a:xfrm>
          <a:off x="0" y="0"/>
          <a:ext cx="0" cy="0"/>
          <a:chOff x="0" y="0"/>
          <a:chExt cx="0" cy="0"/>
        </a:xfrm>
      </p:grpSpPr>
      <p:sp>
        <p:nvSpPr>
          <p:cNvPr id="78" name="Google Shape;78;gf4f11f959e_0_5:notes">
            <a:extLst>
              <a:ext uri="{FF2B5EF4-FFF2-40B4-BE49-F238E27FC236}">
                <a16:creationId xmlns:a16="http://schemas.microsoft.com/office/drawing/2014/main" id="{4DA89FAC-D19E-61E1-AE7A-199C3667CEE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9" name="Google Shape;79;gf4f11f959e_0_5:notes">
            <a:extLst>
              <a:ext uri="{FF2B5EF4-FFF2-40B4-BE49-F238E27FC236}">
                <a16:creationId xmlns:a16="http://schemas.microsoft.com/office/drawing/2014/main" id="{B1BAFA6E-582E-3CBF-61E6-7F2440A2AE2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68265791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f4f11f959e_0_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1" name="Google Shape;101;gf4f11f959e_0_3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p:cNvGrpSpPr/>
        <p:nvPr/>
      </p:nvGrpSpPr>
      <p:grpSpPr>
        <a:xfrm>
          <a:off x="0" y="0"/>
          <a:ext cx="0" cy="0"/>
          <a:chOff x="0" y="0"/>
          <a:chExt cx="0" cy="0"/>
        </a:xfrm>
      </p:grpSpPr>
      <p:sp>
        <p:nvSpPr>
          <p:cNvPr id="107" name="Google Shape;107;g77ed9f117a_2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 name="Google Shape;108;g77ed9f117a_2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fr"/>
              <a:t>‹N°›</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3.xml"/><Relationship Id="rId5"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9.xml"/><Relationship Id="rId1" Type="http://schemas.openxmlformats.org/officeDocument/2006/relationships/slideLayout" Target="../slideLayouts/slideLayout3.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3FDAD2"/>
        </a:solidFill>
        <a:effectLst/>
      </p:bgPr>
    </p:bg>
    <p:spTree>
      <p:nvGrpSpPr>
        <p:cNvPr id="1" name="Shape 53"/>
        <p:cNvGrpSpPr/>
        <p:nvPr/>
      </p:nvGrpSpPr>
      <p:grpSpPr>
        <a:xfrm>
          <a:off x="0" y="0"/>
          <a:ext cx="0" cy="0"/>
          <a:chOff x="0" y="0"/>
          <a:chExt cx="0" cy="0"/>
        </a:xfrm>
      </p:grpSpPr>
      <p:sp>
        <p:nvSpPr>
          <p:cNvPr id="54" name="Google Shape;54;p13"/>
          <p:cNvSpPr txBox="1">
            <a:spLocks noGrp="1"/>
          </p:cNvSpPr>
          <p:nvPr>
            <p:ph type="ctrTitle"/>
          </p:nvPr>
        </p:nvSpPr>
        <p:spPr>
          <a:xfrm>
            <a:off x="732062" y="2262900"/>
            <a:ext cx="6866444" cy="617700"/>
          </a:xfrm>
          <a:prstGeom prst="rect">
            <a:avLst/>
          </a:prstGeom>
        </p:spPr>
        <p:txBody>
          <a:bodyPr spcFirstLastPara="1" wrap="square" lIns="91425" tIns="91425" rIns="91425" bIns="91425" anchor="b" anchorCtr="0">
            <a:noAutofit/>
          </a:bodyPr>
          <a:lstStyle/>
          <a:p>
            <a:pPr lvl="0" algn="l"/>
            <a:br>
              <a:rPr lang="fr-FR" sz="2800" dirty="0"/>
            </a:br>
            <a:br>
              <a:rPr lang="fr-FR" sz="2800" dirty="0"/>
            </a:br>
            <a:r>
              <a:rPr lang="fr-FR" sz="2800" b="1" dirty="0"/>
              <a:t>Machine Learning </a:t>
            </a:r>
            <a:r>
              <a:rPr lang="fr-FR" sz="2800" b="1" dirty="0" err="1"/>
              <a:t>Engineer</a:t>
            </a:r>
            <a:r>
              <a:rPr lang="fr-FR" sz="2800" b="1" dirty="0"/>
              <a:t> </a:t>
            </a:r>
            <a:br>
              <a:rPr lang="fr-FR" sz="2800" dirty="0"/>
            </a:br>
            <a:br>
              <a:rPr lang="fr-FR" sz="2800" dirty="0"/>
            </a:br>
            <a:r>
              <a:rPr lang="fr-FR" sz="2800" dirty="0"/>
              <a:t>Certification at JEDHA</a:t>
            </a:r>
            <a:endParaRPr sz="2800" dirty="0">
              <a:solidFill>
                <a:srgbClr val="0E3449"/>
              </a:solidFill>
              <a:latin typeface="Inter SemiBold"/>
              <a:ea typeface="Inter SemiBold"/>
              <a:cs typeface="Inter SemiBold"/>
              <a:sym typeface="Inter SemiBold"/>
            </a:endParaRPr>
          </a:p>
        </p:txBody>
      </p:sp>
      <p:pic>
        <p:nvPicPr>
          <p:cNvPr id="55" name="Google Shape;55;p13"/>
          <p:cNvPicPr preferRelativeResize="0"/>
          <p:nvPr/>
        </p:nvPicPr>
        <p:blipFill>
          <a:blip r:embed="rId3">
            <a:alphaModFix/>
          </a:blip>
          <a:stretch>
            <a:fillRect/>
          </a:stretch>
        </p:blipFill>
        <p:spPr>
          <a:xfrm>
            <a:off x="4685550" y="2595750"/>
            <a:ext cx="3818450" cy="2547749"/>
          </a:xfrm>
          <a:prstGeom prst="rect">
            <a:avLst/>
          </a:prstGeom>
          <a:noFill/>
          <a:ln>
            <a:noFill/>
          </a:ln>
        </p:spPr>
      </p:pic>
      <p:pic>
        <p:nvPicPr>
          <p:cNvPr id="56" name="Google Shape;56;p13"/>
          <p:cNvPicPr preferRelativeResize="0"/>
          <p:nvPr/>
        </p:nvPicPr>
        <p:blipFill>
          <a:blip r:embed="rId4">
            <a:alphaModFix/>
          </a:blip>
          <a:stretch>
            <a:fillRect/>
          </a:stretch>
        </p:blipFill>
        <p:spPr>
          <a:xfrm>
            <a:off x="840550" y="787375"/>
            <a:ext cx="973275" cy="651050"/>
          </a:xfrm>
          <a:prstGeom prst="rect">
            <a:avLst/>
          </a:prstGeom>
          <a:noFill/>
          <a:ln>
            <a:noFill/>
          </a:ln>
        </p:spPr>
      </p:pic>
      <p:sp>
        <p:nvSpPr>
          <p:cNvPr id="57" name="Google Shape;57;p13"/>
          <p:cNvSpPr txBox="1">
            <a:spLocks noGrp="1"/>
          </p:cNvSpPr>
          <p:nvPr>
            <p:ph type="ctrTitle"/>
          </p:nvPr>
        </p:nvSpPr>
        <p:spPr>
          <a:xfrm>
            <a:off x="840549" y="3087788"/>
            <a:ext cx="4882075" cy="533100"/>
          </a:xfrm>
          <a:prstGeom prst="rect">
            <a:avLst/>
          </a:prstGeom>
        </p:spPr>
        <p:txBody>
          <a:bodyPr spcFirstLastPara="1" wrap="square" lIns="91425" tIns="91425" rIns="91425" bIns="91425" anchor="b" anchorCtr="0">
            <a:noAutofit/>
          </a:bodyPr>
          <a:lstStyle/>
          <a:p>
            <a:pPr algn="l"/>
            <a:r>
              <a:rPr lang="fr-FR" sz="2400" dirty="0"/>
              <a:t>Bloc 4</a:t>
            </a:r>
          </a:p>
        </p:txBody>
      </p:sp>
      <p:sp>
        <p:nvSpPr>
          <p:cNvPr id="2" name="Google Shape;57;p13">
            <a:extLst>
              <a:ext uri="{FF2B5EF4-FFF2-40B4-BE49-F238E27FC236}">
                <a16:creationId xmlns:a16="http://schemas.microsoft.com/office/drawing/2014/main" id="{E566AFD2-6FFA-E7E1-09F0-4B4FEF7327BA}"/>
              </a:ext>
            </a:extLst>
          </p:cNvPr>
          <p:cNvSpPr txBox="1">
            <a:spLocks/>
          </p:cNvSpPr>
          <p:nvPr/>
        </p:nvSpPr>
        <p:spPr>
          <a:xfrm>
            <a:off x="840550" y="3828077"/>
            <a:ext cx="5315100" cy="5331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1pPr>
            <a:lvl2pPr marR="0" lvl="1"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2pPr>
            <a:lvl3pPr marR="0" lvl="2"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3pPr>
            <a:lvl4pPr marR="0" lvl="3"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4pPr>
            <a:lvl5pPr marR="0" lvl="4"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5pPr>
            <a:lvl6pPr marR="0" lvl="5"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6pPr>
            <a:lvl7pPr marR="0" lvl="6"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7pPr>
            <a:lvl8pPr marR="0" lvl="7"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8pPr>
            <a:lvl9pPr marR="0" lvl="8"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9pPr>
          </a:lstStyle>
          <a:p>
            <a:pPr algn="l"/>
            <a:r>
              <a:rPr lang="en-US" sz="1600" dirty="0"/>
              <a:t>Prepared by Agnès HEIJLIGERS</a:t>
            </a:r>
            <a:endParaRPr lang="en-US" sz="1600" dirty="0">
              <a:solidFill>
                <a:schemeClr val="lt1"/>
              </a:solidFill>
              <a:latin typeface="Inter Medium"/>
              <a:ea typeface="Inter Medium"/>
              <a:cs typeface="Inter Medium"/>
              <a:sym typeface="Inter Medium"/>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E8F4FF"/>
        </a:solidFill>
        <a:effectLst/>
      </p:bgPr>
    </p:bg>
    <p:spTree>
      <p:nvGrpSpPr>
        <p:cNvPr id="1" name="Shape 61"/>
        <p:cNvGrpSpPr/>
        <p:nvPr/>
      </p:nvGrpSpPr>
      <p:grpSpPr>
        <a:xfrm>
          <a:off x="0" y="0"/>
          <a:ext cx="0" cy="0"/>
          <a:chOff x="0" y="0"/>
          <a:chExt cx="0" cy="0"/>
        </a:xfrm>
      </p:grpSpPr>
      <p:sp>
        <p:nvSpPr>
          <p:cNvPr id="62" name="Google Shape;62;p14"/>
          <p:cNvSpPr txBox="1">
            <a:spLocks noGrp="1"/>
          </p:cNvSpPr>
          <p:nvPr>
            <p:ph type="ctrTitle" idx="4294967295"/>
          </p:nvPr>
        </p:nvSpPr>
        <p:spPr>
          <a:xfrm>
            <a:off x="1040272" y="1702749"/>
            <a:ext cx="7189328" cy="2241569"/>
          </a:xfrm>
          <a:prstGeom prst="rect">
            <a:avLst/>
          </a:prstGeom>
        </p:spPr>
        <p:txBody>
          <a:bodyPr spcFirstLastPara="1" wrap="square" lIns="91425" tIns="91425" rIns="91425" bIns="91425" anchor="t" anchorCtr="0">
            <a:noAutofit/>
          </a:bodyPr>
          <a:lstStyle/>
          <a:p>
            <a:pPr lvl="0"/>
            <a:r>
              <a:rPr lang="fr" sz="3600" dirty="0">
                <a:solidFill>
                  <a:srgbClr val="0E3449"/>
                </a:solidFill>
                <a:latin typeface="Inter SemiBold"/>
                <a:ea typeface="Inter SemiBold"/>
                <a:cs typeface="Inter SemiBold"/>
                <a:sym typeface="Inter SemiBold"/>
              </a:rPr>
              <a:t>AT&amp;T Spam Detector Project</a:t>
            </a:r>
            <a:br>
              <a:rPr lang="fr" sz="3600" dirty="0">
                <a:solidFill>
                  <a:srgbClr val="0E3449"/>
                </a:solidFill>
                <a:latin typeface="Inter SemiBold"/>
                <a:ea typeface="Inter SemiBold"/>
                <a:cs typeface="Inter SemiBold"/>
                <a:sym typeface="Inter SemiBold"/>
              </a:rPr>
            </a:br>
            <a:br>
              <a:rPr lang="fr" sz="4800" dirty="0">
                <a:solidFill>
                  <a:srgbClr val="0E3449"/>
                </a:solidFill>
                <a:latin typeface="Inter SemiBold"/>
                <a:ea typeface="Inter SemiBold"/>
                <a:cs typeface="Inter SemiBold"/>
                <a:sym typeface="Inter SemiBold"/>
              </a:rPr>
            </a:br>
            <a:r>
              <a:rPr lang="en-US" sz="3200" dirty="0"/>
              <a:t>Deep Learning</a:t>
            </a:r>
            <a:br>
              <a:rPr lang="en-US" sz="4800" dirty="0">
                <a:solidFill>
                  <a:schemeClr val="lt1"/>
                </a:solidFill>
                <a:latin typeface="Inter Medium"/>
                <a:ea typeface="Inter Medium"/>
                <a:cs typeface="Inter Medium"/>
                <a:sym typeface="Inter Medium"/>
              </a:rPr>
            </a:br>
            <a:endParaRPr sz="4500" b="1" dirty="0">
              <a:solidFill>
                <a:srgbClr val="0E3449"/>
              </a:solidFill>
              <a:latin typeface="Inter"/>
              <a:ea typeface="Inter"/>
              <a:cs typeface="Inter"/>
              <a:sym typeface="Inter"/>
            </a:endParaRPr>
          </a:p>
        </p:txBody>
      </p:sp>
      <p:pic>
        <p:nvPicPr>
          <p:cNvPr id="63" name="Google Shape;63;p14"/>
          <p:cNvPicPr preferRelativeResize="0"/>
          <p:nvPr/>
        </p:nvPicPr>
        <p:blipFill>
          <a:blip r:embed="rId3">
            <a:alphaModFix/>
          </a:blip>
          <a:stretch>
            <a:fillRect/>
          </a:stretch>
        </p:blipFill>
        <p:spPr>
          <a:xfrm>
            <a:off x="463375" y="482852"/>
            <a:ext cx="576900" cy="385904"/>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sp>
        <p:nvSpPr>
          <p:cNvPr id="68" name="Google Shape;68;p15"/>
          <p:cNvSpPr txBox="1">
            <a:spLocks noGrp="1"/>
          </p:cNvSpPr>
          <p:nvPr>
            <p:ph type="title"/>
          </p:nvPr>
        </p:nvSpPr>
        <p:spPr>
          <a:xfrm>
            <a:off x="1040275" y="389454"/>
            <a:ext cx="8520600" cy="572700"/>
          </a:xfrm>
          <a:prstGeom prst="rect">
            <a:avLst/>
          </a:prstGeom>
        </p:spPr>
        <p:txBody>
          <a:bodyPr spcFirstLastPara="1" wrap="square" lIns="91425" tIns="91425" rIns="91425" bIns="91425" anchor="t" anchorCtr="0">
            <a:noAutofit/>
          </a:bodyPr>
          <a:lstStyle/>
          <a:p>
            <a:pPr lvl="0"/>
            <a:r>
              <a:rPr lang="en-US" sz="2400" dirty="0"/>
              <a:t>Project Overview</a:t>
            </a:r>
            <a:endParaRPr sz="2500" dirty="0">
              <a:solidFill>
                <a:srgbClr val="0E3449"/>
              </a:solidFill>
              <a:latin typeface="Inter SemiBold"/>
              <a:ea typeface="Inter SemiBold"/>
              <a:cs typeface="Inter SemiBold"/>
              <a:sym typeface="Inter SemiBold"/>
            </a:endParaRPr>
          </a:p>
        </p:txBody>
      </p:sp>
      <p:sp>
        <p:nvSpPr>
          <p:cNvPr id="2" name="Espace réservé du texte 1">
            <a:extLst>
              <a:ext uri="{FF2B5EF4-FFF2-40B4-BE49-F238E27FC236}">
                <a16:creationId xmlns:a16="http://schemas.microsoft.com/office/drawing/2014/main" id="{8017FA96-217C-8435-60E3-8BA248D4E19C}"/>
              </a:ext>
            </a:extLst>
          </p:cNvPr>
          <p:cNvSpPr>
            <a:spLocks noGrp="1"/>
          </p:cNvSpPr>
          <p:nvPr>
            <p:ph type="body" idx="1"/>
          </p:nvPr>
        </p:nvSpPr>
        <p:spPr>
          <a:xfrm>
            <a:off x="311700" y="1055551"/>
            <a:ext cx="8520600" cy="3836473"/>
          </a:xfrm>
        </p:spPr>
        <p:txBody>
          <a:bodyPr/>
          <a:lstStyle/>
          <a:p>
            <a:pPr marL="114300" indent="0">
              <a:buNone/>
            </a:pPr>
            <a:r>
              <a:rPr lang="en-US" b="1" dirty="0">
                <a:solidFill>
                  <a:schemeClr val="tx1"/>
                </a:solidFill>
              </a:rPr>
              <a:t>AT&amp;T Spam Detection: A Deep Learning Approach</a:t>
            </a:r>
          </a:p>
          <a:p>
            <a:endParaRPr lang="en-US" dirty="0">
              <a:solidFill>
                <a:schemeClr val="tx1"/>
              </a:solidFill>
            </a:endParaRPr>
          </a:p>
          <a:p>
            <a:r>
              <a:rPr lang="en-US" b="1" dirty="0">
                <a:solidFill>
                  <a:schemeClr val="tx1"/>
                </a:solidFill>
              </a:rPr>
              <a:t>Goal:</a:t>
            </a:r>
          </a:p>
          <a:p>
            <a:pPr marL="114300" indent="0">
              <a:buNone/>
            </a:pPr>
            <a:r>
              <a:rPr lang="en-US" dirty="0">
                <a:solidFill>
                  <a:schemeClr val="tx1"/>
                </a:solidFill>
              </a:rPr>
              <a:t>To develop an automated spam detector using advanced deep learning techniques, leveraging transfer learning and custom neural networks.</a:t>
            </a:r>
          </a:p>
          <a:p>
            <a:endParaRPr lang="en-US" b="1" dirty="0">
              <a:solidFill>
                <a:schemeClr val="tx1"/>
              </a:solidFill>
            </a:endParaRPr>
          </a:p>
          <a:p>
            <a:r>
              <a:rPr lang="en-US" b="1" dirty="0">
                <a:solidFill>
                  <a:schemeClr val="tx1"/>
                </a:solidFill>
              </a:rPr>
              <a:t>Problem Addressed:</a:t>
            </a:r>
          </a:p>
          <a:p>
            <a:pPr marL="114300" indent="0">
              <a:buNone/>
            </a:pPr>
            <a:r>
              <a:rPr lang="en-US" dirty="0">
                <a:solidFill>
                  <a:schemeClr val="tx1"/>
                </a:solidFill>
              </a:rPr>
              <a:t>To tackle the pervasive issue of unsolicited and malicious spam messages by automatically identifying and filtering them based solely on their content. The primary objective is to enhance the user experience and security for AT&amp;T customers by providing a robust and efficient solution to detect spam.</a:t>
            </a:r>
            <a:endParaRPr lang="fr-FR" b="1" dirty="0">
              <a:solidFill>
                <a:schemeClr val="tx1"/>
              </a:solidFill>
            </a:endParaRPr>
          </a:p>
        </p:txBody>
      </p:sp>
      <p:pic>
        <p:nvPicPr>
          <p:cNvPr id="75" name="Google Shape;75;p15"/>
          <p:cNvPicPr preferRelativeResize="0"/>
          <p:nvPr/>
        </p:nvPicPr>
        <p:blipFill>
          <a:blip r:embed="rId3">
            <a:alphaModFix/>
          </a:blip>
          <a:stretch>
            <a:fillRect/>
          </a:stretch>
        </p:blipFill>
        <p:spPr>
          <a:xfrm>
            <a:off x="463375" y="482852"/>
            <a:ext cx="576900" cy="385904"/>
          </a:xfrm>
          <a:prstGeom prst="rect">
            <a:avLst/>
          </a:prstGeom>
          <a:noFill/>
          <a:ln>
            <a:noFill/>
          </a:ln>
        </p:spPr>
      </p:pic>
      <p:sp>
        <p:nvSpPr>
          <p:cNvPr id="76" name="Google Shape;76;p15"/>
          <p:cNvSpPr/>
          <p:nvPr/>
        </p:nvSpPr>
        <p:spPr>
          <a:xfrm>
            <a:off x="10225" y="4892025"/>
            <a:ext cx="9144000" cy="251400"/>
          </a:xfrm>
          <a:prstGeom prst="rect">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0">
          <a:extLst>
            <a:ext uri="{FF2B5EF4-FFF2-40B4-BE49-F238E27FC236}">
              <a16:creationId xmlns:a16="http://schemas.microsoft.com/office/drawing/2014/main" id="{F1F8D49C-1EC1-1D25-AE6E-CED56B30C110}"/>
            </a:ext>
          </a:extLst>
        </p:cNvPr>
        <p:cNvGrpSpPr/>
        <p:nvPr/>
      </p:nvGrpSpPr>
      <p:grpSpPr>
        <a:xfrm>
          <a:off x="0" y="0"/>
          <a:ext cx="0" cy="0"/>
          <a:chOff x="0" y="0"/>
          <a:chExt cx="0" cy="0"/>
        </a:xfrm>
      </p:grpSpPr>
      <p:sp>
        <p:nvSpPr>
          <p:cNvPr id="81" name="Google Shape;81;p16">
            <a:extLst>
              <a:ext uri="{FF2B5EF4-FFF2-40B4-BE49-F238E27FC236}">
                <a16:creationId xmlns:a16="http://schemas.microsoft.com/office/drawing/2014/main" id="{954A48BC-6B15-0C09-937B-63F8812D4C74}"/>
              </a:ext>
            </a:extLst>
          </p:cNvPr>
          <p:cNvSpPr/>
          <p:nvPr/>
        </p:nvSpPr>
        <p:spPr>
          <a:xfrm>
            <a:off x="5500" y="-17775"/>
            <a:ext cx="3691106" cy="5161200"/>
          </a:xfrm>
          <a:prstGeom prst="rect">
            <a:avLst/>
          </a:prstGeom>
          <a:solidFill>
            <a:srgbClr val="C3FFF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a:extLst>
              <a:ext uri="{FF2B5EF4-FFF2-40B4-BE49-F238E27FC236}">
                <a16:creationId xmlns:a16="http://schemas.microsoft.com/office/drawing/2014/main" id="{B149ED72-B4FE-2A36-81FB-F0E547E3346F}"/>
              </a:ext>
            </a:extLst>
          </p:cNvPr>
          <p:cNvSpPr txBox="1">
            <a:spLocks noGrp="1"/>
          </p:cNvSpPr>
          <p:nvPr>
            <p:ph type="title"/>
          </p:nvPr>
        </p:nvSpPr>
        <p:spPr>
          <a:xfrm>
            <a:off x="390598" y="1138675"/>
            <a:ext cx="3306007" cy="3458100"/>
          </a:xfrm>
          <a:prstGeom prst="rect">
            <a:avLst/>
          </a:prstGeom>
          <a:noFill/>
          <a:ln>
            <a:noFill/>
          </a:ln>
        </p:spPr>
        <p:txBody>
          <a:bodyPr spcFirstLastPara="1" wrap="square" lIns="91425" tIns="91425" rIns="91425" bIns="91425" anchor="t" anchorCtr="0">
            <a:noAutofit/>
          </a:bodyPr>
          <a:lstStyle/>
          <a:p>
            <a:r>
              <a:rPr lang="en-US" b="1" dirty="0"/>
              <a:t>Methodology Overview</a:t>
            </a:r>
            <a:br>
              <a:rPr lang="en-US" dirty="0"/>
            </a:br>
            <a:br>
              <a:rPr lang="en-US" dirty="0"/>
            </a:br>
            <a:r>
              <a:rPr lang="en-US" sz="2000" dirty="0"/>
              <a:t>A Hybrid Approach: Transfer Learning + Feature Engineering + Deep Learning</a:t>
            </a:r>
            <a:br>
              <a:rPr lang="en-US" dirty="0"/>
            </a:br>
            <a:br>
              <a:rPr lang="fr" sz="2400" dirty="0">
                <a:solidFill>
                  <a:srgbClr val="015955"/>
                </a:solidFill>
                <a:latin typeface="Inter"/>
                <a:ea typeface="Inter"/>
                <a:cs typeface="Inter"/>
                <a:sym typeface="Inter"/>
              </a:rPr>
            </a:br>
            <a:br>
              <a:rPr lang="fr" sz="2400" dirty="0">
                <a:solidFill>
                  <a:srgbClr val="015955"/>
                </a:solidFill>
                <a:latin typeface="Inter"/>
                <a:ea typeface="Inter"/>
                <a:cs typeface="Inter"/>
                <a:sym typeface="Inter"/>
              </a:rPr>
            </a:br>
            <a:endParaRPr sz="2400" dirty="0">
              <a:solidFill>
                <a:srgbClr val="015955"/>
              </a:solidFill>
              <a:latin typeface="Inter"/>
              <a:ea typeface="Inter"/>
              <a:cs typeface="Inter"/>
              <a:sym typeface="Inter"/>
            </a:endParaRPr>
          </a:p>
        </p:txBody>
      </p:sp>
      <p:pic>
        <p:nvPicPr>
          <p:cNvPr id="83" name="Google Shape;83;p16">
            <a:extLst>
              <a:ext uri="{FF2B5EF4-FFF2-40B4-BE49-F238E27FC236}">
                <a16:creationId xmlns:a16="http://schemas.microsoft.com/office/drawing/2014/main" id="{AD261BDA-AFBC-DD18-E736-35920AD9B2E3}"/>
              </a:ext>
            </a:extLst>
          </p:cNvPr>
          <p:cNvPicPr preferRelativeResize="0"/>
          <p:nvPr/>
        </p:nvPicPr>
        <p:blipFill rotWithShape="1">
          <a:blip r:embed="rId3">
            <a:alphaModFix/>
          </a:blip>
          <a:srcRect/>
          <a:stretch/>
        </p:blipFill>
        <p:spPr>
          <a:xfrm>
            <a:off x="463375" y="482852"/>
            <a:ext cx="576900" cy="385904"/>
          </a:xfrm>
          <a:prstGeom prst="rect">
            <a:avLst/>
          </a:prstGeom>
          <a:noFill/>
          <a:ln>
            <a:noFill/>
          </a:ln>
        </p:spPr>
      </p:pic>
      <p:sp>
        <p:nvSpPr>
          <p:cNvPr id="84" name="Google Shape;84;p16">
            <a:extLst>
              <a:ext uri="{FF2B5EF4-FFF2-40B4-BE49-F238E27FC236}">
                <a16:creationId xmlns:a16="http://schemas.microsoft.com/office/drawing/2014/main" id="{34F93893-BC1E-A346-21ED-A882A1DDBD8F}"/>
              </a:ext>
            </a:extLst>
          </p:cNvPr>
          <p:cNvSpPr txBox="1">
            <a:spLocks noGrp="1"/>
          </p:cNvSpPr>
          <p:nvPr>
            <p:ph type="ctrTitle" idx="4294967295"/>
          </p:nvPr>
        </p:nvSpPr>
        <p:spPr>
          <a:xfrm>
            <a:off x="3769156" y="594315"/>
            <a:ext cx="5315100" cy="3642552"/>
          </a:xfrm>
          <a:prstGeom prst="rect">
            <a:avLst/>
          </a:prstGeom>
          <a:noFill/>
          <a:ln>
            <a:noFill/>
          </a:ln>
        </p:spPr>
        <p:txBody>
          <a:bodyPr spcFirstLastPara="1" wrap="square" lIns="91425" tIns="91425" rIns="91425" bIns="91425" anchor="t" anchorCtr="0">
            <a:noAutofit/>
          </a:bodyPr>
          <a:lstStyle/>
          <a:p>
            <a:r>
              <a:rPr lang="en-US" sz="1600" b="1" dirty="0"/>
              <a:t>- Semantic Text Embeddings (Transfer Learning)</a:t>
            </a:r>
            <a:r>
              <a:rPr lang="en-US" sz="1600" dirty="0"/>
              <a:t>:</a:t>
            </a:r>
            <a:br>
              <a:rPr lang="en-US" sz="1600" dirty="0"/>
            </a:br>
            <a:r>
              <a:rPr lang="en-US" sz="1600" dirty="0"/>
              <a:t>Use </a:t>
            </a:r>
            <a:r>
              <a:rPr lang="en-US" sz="1600" b="1" dirty="0"/>
              <a:t>Sentence Transformers (all-MiniLM-L6-v2)</a:t>
            </a:r>
            <a:r>
              <a:rPr lang="en-US" sz="1600" dirty="0"/>
              <a:t> to convert raw text messages into dense, numerical vector representations.</a:t>
            </a:r>
            <a:br>
              <a:rPr lang="en-US" sz="1600" dirty="0"/>
            </a:br>
            <a:r>
              <a:rPr lang="en-US" sz="1600" dirty="0"/>
              <a:t>- </a:t>
            </a:r>
            <a:r>
              <a:rPr lang="en-US" sz="1600" b="1" dirty="0"/>
              <a:t>Domain-Specific Feature Engineering</a:t>
            </a:r>
            <a:r>
              <a:rPr lang="en-US" sz="1600" dirty="0"/>
              <a:t>:</a:t>
            </a:r>
            <a:br>
              <a:rPr lang="en-US" sz="1600" dirty="0"/>
            </a:br>
            <a:r>
              <a:rPr lang="en-US" sz="1600" dirty="0"/>
              <a:t>Identified and quantified key characteristics distinguishing spam from legitimate messages.</a:t>
            </a:r>
            <a:br>
              <a:rPr lang="en-US" sz="1600" dirty="0"/>
            </a:br>
            <a:r>
              <a:rPr lang="en-US" sz="1600" dirty="0"/>
              <a:t>- </a:t>
            </a:r>
            <a:r>
              <a:rPr lang="en-US" sz="1600" b="1" dirty="0"/>
              <a:t>Class Weighting for Imbalanced Data</a:t>
            </a:r>
            <a:r>
              <a:rPr lang="en-US" sz="1600" dirty="0"/>
              <a:t>:</a:t>
            </a:r>
            <a:br>
              <a:rPr lang="en-US" sz="1600" dirty="0"/>
            </a:br>
            <a:r>
              <a:rPr lang="en-US" sz="1600" dirty="0"/>
              <a:t>Implemented a weighted loss function during neural network training to ensure the model adequately learns from the minority 'spam' class, preventing bias towards the majority 'ham' class.</a:t>
            </a:r>
            <a:br>
              <a:rPr lang="en-US" sz="1600" dirty="0"/>
            </a:br>
            <a:r>
              <a:rPr lang="en-US" sz="1600" dirty="0"/>
              <a:t>- </a:t>
            </a:r>
            <a:r>
              <a:rPr lang="en-US" sz="1600" b="1" dirty="0"/>
              <a:t>Simple &amp; Ultra-Simple Neural Networks (Deep Learning)</a:t>
            </a:r>
            <a:r>
              <a:rPr lang="en-US" sz="1600" dirty="0"/>
              <a:t>:</a:t>
            </a:r>
            <a:br>
              <a:rPr lang="en-US" sz="1600" dirty="0"/>
            </a:br>
            <a:r>
              <a:rPr lang="en-US" sz="1600" dirty="0"/>
              <a:t>Developed custom feed-forward neural networks for efficient binary classification.</a:t>
            </a:r>
            <a:endParaRPr lang="en-US" dirty="0"/>
          </a:p>
        </p:txBody>
      </p:sp>
    </p:spTree>
    <p:extLst>
      <p:ext uri="{BB962C8B-B14F-4D97-AF65-F5344CB8AC3E}">
        <p14:creationId xmlns:p14="http://schemas.microsoft.com/office/powerpoint/2010/main" val="8620985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0"/>
        <p:cNvGrpSpPr/>
        <p:nvPr/>
      </p:nvGrpSpPr>
      <p:grpSpPr>
        <a:xfrm>
          <a:off x="0" y="0"/>
          <a:ext cx="0" cy="0"/>
          <a:chOff x="0" y="0"/>
          <a:chExt cx="0" cy="0"/>
        </a:xfrm>
      </p:grpSpPr>
      <p:sp>
        <p:nvSpPr>
          <p:cNvPr id="81" name="Google Shape;81;p16"/>
          <p:cNvSpPr/>
          <p:nvPr/>
        </p:nvSpPr>
        <p:spPr>
          <a:xfrm>
            <a:off x="5500" y="-17775"/>
            <a:ext cx="3691106" cy="5161200"/>
          </a:xfrm>
          <a:prstGeom prst="rect">
            <a:avLst/>
          </a:prstGeom>
          <a:solidFill>
            <a:srgbClr val="C3FFF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p:cNvSpPr txBox="1">
            <a:spLocks noGrp="1"/>
          </p:cNvSpPr>
          <p:nvPr>
            <p:ph type="title"/>
          </p:nvPr>
        </p:nvSpPr>
        <p:spPr>
          <a:xfrm>
            <a:off x="296742" y="1115427"/>
            <a:ext cx="3306007" cy="3458100"/>
          </a:xfrm>
          <a:prstGeom prst="rect">
            <a:avLst/>
          </a:prstGeom>
          <a:noFill/>
          <a:ln>
            <a:noFill/>
          </a:ln>
        </p:spPr>
        <p:txBody>
          <a:bodyPr spcFirstLastPara="1" wrap="square" lIns="91425" tIns="91425" rIns="91425" bIns="91425" anchor="t" anchorCtr="0">
            <a:noAutofit/>
          </a:bodyPr>
          <a:lstStyle/>
          <a:p>
            <a:pPr lvl="0"/>
            <a:r>
              <a:rPr lang="en-US" sz="2400" b="1" dirty="0"/>
              <a:t>Data Loading and Cleaning</a:t>
            </a:r>
            <a:br>
              <a:rPr lang="en-US" sz="2400" dirty="0"/>
            </a:br>
            <a:br>
              <a:rPr lang="en-US" sz="2400" dirty="0"/>
            </a:br>
            <a:r>
              <a:rPr lang="en-US" sz="2400" dirty="0"/>
              <a:t>Preparation for the exploratory analysis</a:t>
            </a:r>
            <a:br>
              <a:rPr lang="fr" sz="2400" dirty="0">
                <a:solidFill>
                  <a:srgbClr val="015955"/>
                </a:solidFill>
                <a:latin typeface="Inter"/>
                <a:ea typeface="Inter"/>
                <a:cs typeface="Inter"/>
                <a:sym typeface="Inter"/>
              </a:rPr>
            </a:br>
            <a:br>
              <a:rPr lang="fr" sz="2400" dirty="0">
                <a:solidFill>
                  <a:srgbClr val="015955"/>
                </a:solidFill>
                <a:latin typeface="Inter"/>
                <a:ea typeface="Inter"/>
                <a:cs typeface="Inter"/>
                <a:sym typeface="Inter"/>
              </a:rPr>
            </a:br>
            <a:endParaRPr sz="2400" dirty="0">
              <a:solidFill>
                <a:srgbClr val="015955"/>
              </a:solidFill>
              <a:latin typeface="Inter"/>
              <a:ea typeface="Inter"/>
              <a:cs typeface="Inter"/>
              <a:sym typeface="Inter"/>
            </a:endParaRPr>
          </a:p>
        </p:txBody>
      </p:sp>
      <p:pic>
        <p:nvPicPr>
          <p:cNvPr id="83" name="Google Shape;83;p16"/>
          <p:cNvPicPr preferRelativeResize="0"/>
          <p:nvPr/>
        </p:nvPicPr>
        <p:blipFill rotWithShape="1">
          <a:blip r:embed="rId3">
            <a:alphaModFix/>
          </a:blip>
          <a:srcRect/>
          <a:stretch/>
        </p:blipFill>
        <p:spPr>
          <a:xfrm>
            <a:off x="463375" y="482852"/>
            <a:ext cx="576900" cy="385904"/>
          </a:xfrm>
          <a:prstGeom prst="rect">
            <a:avLst/>
          </a:prstGeom>
          <a:noFill/>
          <a:ln>
            <a:noFill/>
          </a:ln>
        </p:spPr>
      </p:pic>
      <p:sp>
        <p:nvSpPr>
          <p:cNvPr id="84" name="Google Shape;84;p16"/>
          <p:cNvSpPr txBox="1">
            <a:spLocks noGrp="1"/>
          </p:cNvSpPr>
          <p:nvPr>
            <p:ph type="ctrTitle" idx="4294967295"/>
          </p:nvPr>
        </p:nvSpPr>
        <p:spPr>
          <a:xfrm>
            <a:off x="3925833" y="605285"/>
            <a:ext cx="5056796" cy="3827230"/>
          </a:xfrm>
          <a:prstGeom prst="rect">
            <a:avLst/>
          </a:prstGeom>
          <a:noFill/>
          <a:ln>
            <a:noFill/>
          </a:ln>
        </p:spPr>
        <p:txBody>
          <a:bodyPr spcFirstLastPara="1" wrap="square" lIns="91425" tIns="91425" rIns="91425" bIns="91425" anchor="t" anchorCtr="0">
            <a:noAutofit/>
          </a:bodyPr>
          <a:lstStyle/>
          <a:p>
            <a:r>
              <a:rPr lang="en-US" sz="1400" b="1" dirty="0"/>
              <a:t>Initial Data State</a:t>
            </a:r>
            <a:br>
              <a:rPr lang="en-US" sz="1400" dirty="0"/>
            </a:br>
            <a:r>
              <a:rPr lang="en-US" sz="1400" dirty="0"/>
              <a:t>- Loaded spam.csv dataset, containing 5572 messages.</a:t>
            </a:r>
            <a:br>
              <a:rPr lang="en-US" sz="1400" dirty="0"/>
            </a:br>
            <a:r>
              <a:rPr lang="en-US" sz="1400" dirty="0"/>
              <a:t>- Initial observation revealed 5 columns: v1 (label), v2 (message), and three Unnamed columns</a:t>
            </a:r>
            <a:br>
              <a:rPr lang="en-US" sz="1400" dirty="0"/>
            </a:br>
            <a:br>
              <a:rPr lang="en-US" sz="1400" dirty="0"/>
            </a:br>
            <a:r>
              <a:rPr lang="en-US" sz="1400" b="1" dirty="0"/>
              <a:t>Cleaning Steps</a:t>
            </a:r>
            <a:br>
              <a:rPr lang="en-US" sz="1400" dirty="0"/>
            </a:br>
            <a:r>
              <a:rPr lang="en-US" sz="1400" dirty="0"/>
              <a:t>- Column Dropping: Removed the Unnamed: 2, Unnamed: 3, and Unnamed: 4 columns.</a:t>
            </a:r>
            <a:br>
              <a:rPr lang="en-US" sz="1400" dirty="0"/>
            </a:br>
            <a:r>
              <a:rPr lang="en-US" sz="1400" dirty="0"/>
              <a:t>- Column Renaming: Renamed v1 to label and v2 to message for clarity.</a:t>
            </a:r>
            <a:br>
              <a:rPr lang="en-US" sz="1400" dirty="0"/>
            </a:br>
            <a:br>
              <a:rPr lang="en-US" sz="1400" dirty="0"/>
            </a:br>
            <a:r>
              <a:rPr lang="en-US" sz="1400" b="1" dirty="0"/>
              <a:t>Resulting Dataset</a:t>
            </a:r>
            <a:br>
              <a:rPr lang="en-US" sz="1400" dirty="0"/>
            </a:br>
            <a:r>
              <a:rPr lang="en-US" sz="1400" dirty="0"/>
              <a:t>Cleaned dataset now consists of 5572 messages with two key columns: label (ham/spam) and message (text content).</a:t>
            </a:r>
            <a:br>
              <a:rPr lang="en-US" sz="1400" dirty="0"/>
            </a:br>
            <a:br>
              <a:rPr lang="en-US" sz="1400" dirty="0"/>
            </a:br>
            <a:r>
              <a:rPr lang="en-US" sz="1400" dirty="0"/>
              <a:t>This prepared the data for subsequent exploratory analysis and feature engineering.</a:t>
            </a:r>
            <a:br>
              <a:rPr lang="en-US" sz="1400" dirty="0"/>
            </a:br>
            <a:br>
              <a:rPr lang="en-US" sz="1400" dirty="0"/>
            </a:br>
            <a:br>
              <a:rPr lang="en-US" sz="1400" dirty="0"/>
            </a:br>
            <a:br>
              <a:rPr lang="en-US" sz="1400" dirty="0"/>
            </a:br>
            <a:br>
              <a:rPr lang="fr-FR" sz="1400" dirty="0"/>
            </a:b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0">
          <a:extLst>
            <a:ext uri="{FF2B5EF4-FFF2-40B4-BE49-F238E27FC236}">
              <a16:creationId xmlns:a16="http://schemas.microsoft.com/office/drawing/2014/main" id="{A8A5D7D1-F001-0176-41AE-652C7D7C9DFC}"/>
            </a:ext>
          </a:extLst>
        </p:cNvPr>
        <p:cNvGrpSpPr/>
        <p:nvPr/>
      </p:nvGrpSpPr>
      <p:grpSpPr>
        <a:xfrm>
          <a:off x="0" y="0"/>
          <a:ext cx="0" cy="0"/>
          <a:chOff x="0" y="0"/>
          <a:chExt cx="0" cy="0"/>
        </a:xfrm>
      </p:grpSpPr>
      <p:sp>
        <p:nvSpPr>
          <p:cNvPr id="81" name="Google Shape;81;p16">
            <a:extLst>
              <a:ext uri="{FF2B5EF4-FFF2-40B4-BE49-F238E27FC236}">
                <a16:creationId xmlns:a16="http://schemas.microsoft.com/office/drawing/2014/main" id="{7FFC7DC1-B63D-89A9-0E71-7A081E9C4BD5}"/>
              </a:ext>
            </a:extLst>
          </p:cNvPr>
          <p:cNvSpPr/>
          <p:nvPr/>
        </p:nvSpPr>
        <p:spPr>
          <a:xfrm>
            <a:off x="5500" y="-17775"/>
            <a:ext cx="3691106" cy="5161200"/>
          </a:xfrm>
          <a:prstGeom prst="rect">
            <a:avLst/>
          </a:prstGeom>
          <a:solidFill>
            <a:srgbClr val="C3FFF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a:extLst>
              <a:ext uri="{FF2B5EF4-FFF2-40B4-BE49-F238E27FC236}">
                <a16:creationId xmlns:a16="http://schemas.microsoft.com/office/drawing/2014/main" id="{AD11FFD6-8681-77E2-B818-342D4E50E44C}"/>
              </a:ext>
            </a:extLst>
          </p:cNvPr>
          <p:cNvSpPr txBox="1">
            <a:spLocks noGrp="1"/>
          </p:cNvSpPr>
          <p:nvPr>
            <p:ph type="title"/>
          </p:nvPr>
        </p:nvSpPr>
        <p:spPr>
          <a:xfrm>
            <a:off x="390598" y="1138675"/>
            <a:ext cx="3306007" cy="3458100"/>
          </a:xfrm>
          <a:prstGeom prst="rect">
            <a:avLst/>
          </a:prstGeom>
          <a:noFill/>
          <a:ln>
            <a:noFill/>
          </a:ln>
        </p:spPr>
        <p:txBody>
          <a:bodyPr spcFirstLastPara="1" wrap="square" lIns="91425" tIns="91425" rIns="91425" bIns="91425" anchor="t" anchorCtr="0">
            <a:noAutofit/>
          </a:bodyPr>
          <a:lstStyle/>
          <a:p>
            <a:r>
              <a:rPr lang="en-US" b="1" dirty="0"/>
              <a:t>Exploratory Data Analysis (EDA) &amp; Insights</a:t>
            </a:r>
            <a:br>
              <a:rPr lang="en-US" b="1" dirty="0"/>
            </a:br>
            <a:br>
              <a:rPr lang="en-US" b="1" dirty="0"/>
            </a:br>
            <a:r>
              <a:rPr lang="en-US" dirty="0"/>
              <a:t>Key Findings</a:t>
            </a:r>
            <a:br>
              <a:rPr lang="en-US" dirty="0"/>
            </a:br>
            <a:br>
              <a:rPr lang="en-US" sz="2400" dirty="0"/>
            </a:br>
            <a:br>
              <a:rPr lang="fr" sz="2400" dirty="0">
                <a:solidFill>
                  <a:srgbClr val="015955"/>
                </a:solidFill>
                <a:latin typeface="Inter"/>
                <a:ea typeface="Inter"/>
                <a:cs typeface="Inter"/>
                <a:sym typeface="Inter"/>
              </a:rPr>
            </a:br>
            <a:br>
              <a:rPr lang="fr" sz="2400" dirty="0">
                <a:solidFill>
                  <a:srgbClr val="015955"/>
                </a:solidFill>
                <a:latin typeface="Inter"/>
                <a:ea typeface="Inter"/>
                <a:cs typeface="Inter"/>
                <a:sym typeface="Inter"/>
              </a:rPr>
            </a:br>
            <a:endParaRPr sz="2400" dirty="0">
              <a:solidFill>
                <a:srgbClr val="015955"/>
              </a:solidFill>
              <a:latin typeface="Inter"/>
              <a:ea typeface="Inter"/>
              <a:cs typeface="Inter"/>
              <a:sym typeface="Inter"/>
            </a:endParaRPr>
          </a:p>
        </p:txBody>
      </p:sp>
      <p:pic>
        <p:nvPicPr>
          <p:cNvPr id="83" name="Google Shape;83;p16">
            <a:extLst>
              <a:ext uri="{FF2B5EF4-FFF2-40B4-BE49-F238E27FC236}">
                <a16:creationId xmlns:a16="http://schemas.microsoft.com/office/drawing/2014/main" id="{60D7D562-0F34-DD17-FD35-4F73EEFBE3DB}"/>
              </a:ext>
            </a:extLst>
          </p:cNvPr>
          <p:cNvPicPr preferRelativeResize="0"/>
          <p:nvPr/>
        </p:nvPicPr>
        <p:blipFill rotWithShape="1">
          <a:blip r:embed="rId3">
            <a:alphaModFix/>
          </a:blip>
          <a:srcRect/>
          <a:stretch/>
        </p:blipFill>
        <p:spPr>
          <a:xfrm>
            <a:off x="463375" y="482852"/>
            <a:ext cx="576900" cy="385904"/>
          </a:xfrm>
          <a:prstGeom prst="rect">
            <a:avLst/>
          </a:prstGeom>
          <a:noFill/>
          <a:ln>
            <a:noFill/>
          </a:ln>
        </p:spPr>
      </p:pic>
      <p:sp>
        <p:nvSpPr>
          <p:cNvPr id="84" name="Google Shape;84;p16">
            <a:extLst>
              <a:ext uri="{FF2B5EF4-FFF2-40B4-BE49-F238E27FC236}">
                <a16:creationId xmlns:a16="http://schemas.microsoft.com/office/drawing/2014/main" id="{58063B08-1C2E-B674-6B5A-1F7A688B758A}"/>
              </a:ext>
            </a:extLst>
          </p:cNvPr>
          <p:cNvSpPr txBox="1">
            <a:spLocks noGrp="1"/>
          </p:cNvSpPr>
          <p:nvPr>
            <p:ph type="ctrTitle" idx="4294967295"/>
          </p:nvPr>
        </p:nvSpPr>
        <p:spPr>
          <a:xfrm>
            <a:off x="3696605" y="362273"/>
            <a:ext cx="5315100" cy="3642552"/>
          </a:xfrm>
          <a:prstGeom prst="rect">
            <a:avLst/>
          </a:prstGeom>
          <a:noFill/>
          <a:ln>
            <a:noFill/>
          </a:ln>
        </p:spPr>
        <p:txBody>
          <a:bodyPr spcFirstLastPara="1" wrap="square" lIns="91425" tIns="91425" rIns="91425" bIns="91425" anchor="t" anchorCtr="0">
            <a:noAutofit/>
          </a:bodyPr>
          <a:lstStyle/>
          <a:p>
            <a:r>
              <a:rPr lang="en-US" sz="1600" b="1" dirty="0"/>
              <a:t>- Significant Class Imbalance:</a:t>
            </a:r>
            <a:br>
              <a:rPr lang="en-US" sz="1600" dirty="0"/>
            </a:br>
            <a:r>
              <a:rPr lang="en-US" sz="1600" dirty="0"/>
              <a:t>Dataset has 5572 messages: 4825 'ham' (86.6%) and 747 'spam' (13.4%). This is crucial and addressed using class weighting during model training.</a:t>
            </a:r>
            <a:br>
              <a:rPr lang="en-US" sz="1600" dirty="0"/>
            </a:br>
            <a:br>
              <a:rPr lang="en-US" sz="1600" dirty="0"/>
            </a:br>
            <a:r>
              <a:rPr lang="en-US" sz="1600" b="1" dirty="0"/>
              <a:t>- Message Length Differences:</a:t>
            </a:r>
            <a:br>
              <a:rPr lang="en-US" sz="1600" dirty="0"/>
            </a:br>
            <a:r>
              <a:rPr lang="en-US" sz="1600" dirty="0"/>
              <a:t>'Ham' messages are generally shorter </a:t>
            </a:r>
            <a:br>
              <a:rPr lang="en-US" sz="1600" dirty="0"/>
            </a:br>
            <a:br>
              <a:rPr lang="en-US" sz="1600" dirty="0"/>
            </a:br>
            <a:r>
              <a:rPr lang="en-US" sz="1600" b="1" dirty="0"/>
              <a:t>- Distinct Language Styles:</a:t>
            </a:r>
            <a:br>
              <a:rPr lang="en-US" sz="1600" dirty="0"/>
            </a:br>
            <a:r>
              <a:rPr lang="en-US" sz="1600" dirty="0"/>
              <a:t>Ham: Often casual, uses slang, and personal tone. Spam: Characterized by formal, promotional, and urgent language.</a:t>
            </a:r>
            <a:br>
              <a:rPr lang="en-US" sz="1600" dirty="0"/>
            </a:br>
            <a:br>
              <a:rPr lang="en-US" sz="1600" dirty="0"/>
            </a:br>
            <a:r>
              <a:rPr lang="en-US" sz="1600" b="1" dirty="0"/>
              <a:t>- Vocabulary Patterns:</a:t>
            </a:r>
            <a:br>
              <a:rPr lang="en-US" sz="1600" dirty="0"/>
            </a:br>
            <a:r>
              <a:rPr lang="en-US" sz="1600" dirty="0"/>
              <a:t>Spam Keywords: Frequent use of terms like "free", "win", "reward", "claim", "urgent", "offer" — classic indicators.</a:t>
            </a:r>
            <a:br>
              <a:rPr lang="en-US" sz="1400" dirty="0"/>
            </a:br>
            <a:br>
              <a:rPr lang="en-US" sz="1400" dirty="0"/>
            </a:br>
            <a:br>
              <a:rPr lang="en-US" dirty="0"/>
            </a:br>
            <a:br>
              <a:rPr lang="en-US" sz="1600" dirty="0"/>
            </a:br>
            <a:br>
              <a:rPr lang="en-US" dirty="0"/>
            </a:br>
            <a:br>
              <a:rPr lang="fr-FR" dirty="0"/>
            </a:br>
            <a:endParaRPr lang="en-US" sz="1600" dirty="0"/>
          </a:p>
        </p:txBody>
      </p:sp>
    </p:spTree>
    <p:extLst>
      <p:ext uri="{BB962C8B-B14F-4D97-AF65-F5344CB8AC3E}">
        <p14:creationId xmlns:p14="http://schemas.microsoft.com/office/powerpoint/2010/main" val="18564298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0">
          <a:extLst>
            <a:ext uri="{FF2B5EF4-FFF2-40B4-BE49-F238E27FC236}">
              <a16:creationId xmlns:a16="http://schemas.microsoft.com/office/drawing/2014/main" id="{82BB91CB-0472-D4CE-74A9-BAA14BBDFCA2}"/>
            </a:ext>
          </a:extLst>
        </p:cNvPr>
        <p:cNvGrpSpPr/>
        <p:nvPr/>
      </p:nvGrpSpPr>
      <p:grpSpPr>
        <a:xfrm>
          <a:off x="0" y="0"/>
          <a:ext cx="0" cy="0"/>
          <a:chOff x="0" y="0"/>
          <a:chExt cx="0" cy="0"/>
        </a:xfrm>
      </p:grpSpPr>
      <p:sp>
        <p:nvSpPr>
          <p:cNvPr id="81" name="Google Shape;81;p16">
            <a:extLst>
              <a:ext uri="{FF2B5EF4-FFF2-40B4-BE49-F238E27FC236}">
                <a16:creationId xmlns:a16="http://schemas.microsoft.com/office/drawing/2014/main" id="{3A6C34F5-0D3C-DAB6-97C6-14FA08713906}"/>
              </a:ext>
            </a:extLst>
          </p:cNvPr>
          <p:cNvSpPr/>
          <p:nvPr/>
        </p:nvSpPr>
        <p:spPr>
          <a:xfrm>
            <a:off x="5500" y="-17775"/>
            <a:ext cx="3691106" cy="5161200"/>
          </a:xfrm>
          <a:prstGeom prst="rect">
            <a:avLst/>
          </a:prstGeom>
          <a:solidFill>
            <a:srgbClr val="C3FFF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a:extLst>
              <a:ext uri="{FF2B5EF4-FFF2-40B4-BE49-F238E27FC236}">
                <a16:creationId xmlns:a16="http://schemas.microsoft.com/office/drawing/2014/main" id="{83DE46C8-3AB4-72EE-BC46-37A0D1275B30}"/>
              </a:ext>
            </a:extLst>
          </p:cNvPr>
          <p:cNvSpPr txBox="1">
            <a:spLocks noGrp="1"/>
          </p:cNvSpPr>
          <p:nvPr>
            <p:ph type="title"/>
          </p:nvPr>
        </p:nvSpPr>
        <p:spPr>
          <a:xfrm>
            <a:off x="390598" y="1138675"/>
            <a:ext cx="3306007" cy="3458100"/>
          </a:xfrm>
          <a:prstGeom prst="rect">
            <a:avLst/>
          </a:prstGeom>
          <a:noFill/>
          <a:ln>
            <a:noFill/>
          </a:ln>
        </p:spPr>
        <p:txBody>
          <a:bodyPr spcFirstLastPara="1" wrap="square" lIns="91425" tIns="91425" rIns="91425" bIns="91425" anchor="t" anchorCtr="0">
            <a:noAutofit/>
          </a:bodyPr>
          <a:lstStyle/>
          <a:p>
            <a:r>
              <a:rPr lang="en-US" b="1" dirty="0"/>
              <a:t>Exploratory Data Analysis (EDA) &amp; Insights</a:t>
            </a:r>
            <a:br>
              <a:rPr lang="en-US" b="1" dirty="0"/>
            </a:br>
            <a:br>
              <a:rPr lang="en-US" b="1" dirty="0"/>
            </a:br>
            <a:r>
              <a:rPr lang="en-US" dirty="0"/>
              <a:t>Visualizations and </a:t>
            </a:r>
            <a:r>
              <a:rPr lang="en-US" dirty="0" err="1"/>
              <a:t>Observationsd</a:t>
            </a:r>
            <a:br>
              <a:rPr lang="en-US" dirty="0"/>
            </a:br>
            <a:br>
              <a:rPr lang="en-US" sz="2400" dirty="0"/>
            </a:br>
            <a:br>
              <a:rPr lang="fr" sz="2400" dirty="0">
                <a:solidFill>
                  <a:srgbClr val="015955"/>
                </a:solidFill>
                <a:latin typeface="Inter"/>
                <a:ea typeface="Inter"/>
                <a:cs typeface="Inter"/>
                <a:sym typeface="Inter"/>
              </a:rPr>
            </a:br>
            <a:br>
              <a:rPr lang="fr" sz="2400" dirty="0">
                <a:solidFill>
                  <a:srgbClr val="015955"/>
                </a:solidFill>
                <a:latin typeface="Inter"/>
                <a:ea typeface="Inter"/>
                <a:cs typeface="Inter"/>
                <a:sym typeface="Inter"/>
              </a:rPr>
            </a:br>
            <a:endParaRPr sz="2400" dirty="0">
              <a:solidFill>
                <a:srgbClr val="015955"/>
              </a:solidFill>
              <a:latin typeface="Inter"/>
              <a:ea typeface="Inter"/>
              <a:cs typeface="Inter"/>
              <a:sym typeface="Inter"/>
            </a:endParaRPr>
          </a:p>
        </p:txBody>
      </p:sp>
      <p:pic>
        <p:nvPicPr>
          <p:cNvPr id="83" name="Google Shape;83;p16">
            <a:extLst>
              <a:ext uri="{FF2B5EF4-FFF2-40B4-BE49-F238E27FC236}">
                <a16:creationId xmlns:a16="http://schemas.microsoft.com/office/drawing/2014/main" id="{B5319C8D-9D25-A54D-4982-C5DFE57B9CBE}"/>
              </a:ext>
            </a:extLst>
          </p:cNvPr>
          <p:cNvPicPr preferRelativeResize="0"/>
          <p:nvPr/>
        </p:nvPicPr>
        <p:blipFill rotWithShape="1">
          <a:blip r:embed="rId3">
            <a:alphaModFix/>
          </a:blip>
          <a:srcRect/>
          <a:stretch/>
        </p:blipFill>
        <p:spPr>
          <a:xfrm>
            <a:off x="463375" y="482852"/>
            <a:ext cx="576900" cy="385904"/>
          </a:xfrm>
          <a:prstGeom prst="rect">
            <a:avLst/>
          </a:prstGeom>
          <a:noFill/>
          <a:ln>
            <a:noFill/>
          </a:ln>
        </p:spPr>
      </p:pic>
      <p:sp>
        <p:nvSpPr>
          <p:cNvPr id="84" name="Google Shape;84;p16">
            <a:extLst>
              <a:ext uri="{FF2B5EF4-FFF2-40B4-BE49-F238E27FC236}">
                <a16:creationId xmlns:a16="http://schemas.microsoft.com/office/drawing/2014/main" id="{180F3178-EB21-F750-714A-BD62DB583EC8}"/>
              </a:ext>
            </a:extLst>
          </p:cNvPr>
          <p:cNvSpPr txBox="1">
            <a:spLocks noGrp="1"/>
          </p:cNvSpPr>
          <p:nvPr>
            <p:ph type="ctrTitle" idx="4294967295"/>
          </p:nvPr>
        </p:nvSpPr>
        <p:spPr>
          <a:xfrm>
            <a:off x="3696605" y="362273"/>
            <a:ext cx="5315100" cy="3642552"/>
          </a:xfrm>
          <a:prstGeom prst="rect">
            <a:avLst/>
          </a:prstGeom>
          <a:noFill/>
          <a:ln>
            <a:noFill/>
          </a:ln>
        </p:spPr>
        <p:txBody>
          <a:bodyPr spcFirstLastPara="1" wrap="square" lIns="91425" tIns="91425" rIns="91425" bIns="91425" anchor="t" anchorCtr="0">
            <a:noAutofit/>
          </a:bodyPr>
          <a:lstStyle/>
          <a:p>
            <a:br>
              <a:rPr lang="en-US" sz="1400" dirty="0"/>
            </a:br>
            <a:br>
              <a:rPr lang="en-US" sz="1400" dirty="0"/>
            </a:br>
            <a:r>
              <a:rPr lang="en-US" sz="1400" b="1" dirty="0"/>
              <a:t>Visualizations &amp; Observations:</a:t>
            </a:r>
            <a:br>
              <a:rPr lang="en-US" sz="1400" dirty="0"/>
            </a:br>
            <a:br>
              <a:rPr lang="en-US" sz="1400" dirty="0"/>
            </a:br>
            <a:r>
              <a:rPr lang="en-US" sz="1400" dirty="0"/>
              <a:t>Bar chart clearly shows the 'ham' vs. 'spam' distribution.</a:t>
            </a:r>
            <a:br>
              <a:rPr lang="en-US" sz="1400" dirty="0"/>
            </a:br>
            <a:r>
              <a:rPr lang="en-US" sz="1400" dirty="0"/>
              <a:t>Initial message examples highlighted the linguistic differences and common spam tropes.</a:t>
            </a:r>
            <a:br>
              <a:rPr lang="en-US" dirty="0"/>
            </a:br>
            <a:br>
              <a:rPr lang="en-US" sz="1600" dirty="0"/>
            </a:br>
            <a:br>
              <a:rPr lang="en-US" dirty="0"/>
            </a:br>
            <a:br>
              <a:rPr lang="fr-FR" dirty="0"/>
            </a:br>
            <a:endParaRPr lang="en-US" sz="1600" dirty="0"/>
          </a:p>
        </p:txBody>
      </p:sp>
      <p:pic>
        <p:nvPicPr>
          <p:cNvPr id="5122" name="Picture 2">
            <a:extLst>
              <a:ext uri="{FF2B5EF4-FFF2-40B4-BE49-F238E27FC236}">
                <a16:creationId xmlns:a16="http://schemas.microsoft.com/office/drawing/2014/main" id="{A7CCD8E9-F18C-1E2B-E4A8-504DC836686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701768" y="2152326"/>
            <a:ext cx="2542323" cy="1697290"/>
          </a:xfrm>
          <a:prstGeom prst="rect">
            <a:avLst/>
          </a:prstGeom>
          <a:noFill/>
          <a:extLst>
            <a:ext uri="{909E8E84-426E-40DD-AFC4-6F175D3DCCD1}">
              <a14:hiddenFill xmlns:a14="http://schemas.microsoft.com/office/drawing/2010/main">
                <a:solidFill>
                  <a:srgbClr val="FFFFFF"/>
                </a:solidFill>
              </a14:hiddenFill>
            </a:ext>
          </a:extLst>
        </p:spPr>
      </p:pic>
      <p:pic>
        <p:nvPicPr>
          <p:cNvPr id="5124" name="Picture 4">
            <a:extLst>
              <a:ext uri="{FF2B5EF4-FFF2-40B4-BE49-F238E27FC236}">
                <a16:creationId xmlns:a16="http://schemas.microsoft.com/office/drawing/2014/main" id="{967563F2-380A-C8AE-6066-408433D4C33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11079" y="2183549"/>
            <a:ext cx="2542323" cy="16359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19308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80">
          <a:extLst>
            <a:ext uri="{FF2B5EF4-FFF2-40B4-BE49-F238E27FC236}">
              <a16:creationId xmlns:a16="http://schemas.microsoft.com/office/drawing/2014/main" id="{CE43C3A8-E024-8607-C2FC-7A9A13A9186D}"/>
            </a:ext>
          </a:extLst>
        </p:cNvPr>
        <p:cNvGrpSpPr/>
        <p:nvPr/>
      </p:nvGrpSpPr>
      <p:grpSpPr>
        <a:xfrm>
          <a:off x="0" y="0"/>
          <a:ext cx="0" cy="0"/>
          <a:chOff x="0" y="0"/>
          <a:chExt cx="0" cy="0"/>
        </a:xfrm>
      </p:grpSpPr>
      <p:sp>
        <p:nvSpPr>
          <p:cNvPr id="81" name="Google Shape;81;p16">
            <a:extLst>
              <a:ext uri="{FF2B5EF4-FFF2-40B4-BE49-F238E27FC236}">
                <a16:creationId xmlns:a16="http://schemas.microsoft.com/office/drawing/2014/main" id="{6D0D68DB-8C21-6287-2661-DE3682C66B04}"/>
              </a:ext>
            </a:extLst>
          </p:cNvPr>
          <p:cNvSpPr/>
          <p:nvPr/>
        </p:nvSpPr>
        <p:spPr>
          <a:xfrm>
            <a:off x="5499" y="-17775"/>
            <a:ext cx="3520625" cy="5161200"/>
          </a:xfrm>
          <a:prstGeom prst="rect">
            <a:avLst/>
          </a:prstGeom>
          <a:solidFill>
            <a:srgbClr val="C3FFF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a:extLst>
              <a:ext uri="{FF2B5EF4-FFF2-40B4-BE49-F238E27FC236}">
                <a16:creationId xmlns:a16="http://schemas.microsoft.com/office/drawing/2014/main" id="{C537C441-8431-E426-0EBD-9CD05FC9DBF4}"/>
              </a:ext>
            </a:extLst>
          </p:cNvPr>
          <p:cNvSpPr txBox="1">
            <a:spLocks noGrp="1"/>
          </p:cNvSpPr>
          <p:nvPr>
            <p:ph type="title"/>
          </p:nvPr>
        </p:nvSpPr>
        <p:spPr>
          <a:xfrm>
            <a:off x="438808" y="967077"/>
            <a:ext cx="2988031" cy="3774288"/>
          </a:xfrm>
          <a:prstGeom prst="rect">
            <a:avLst/>
          </a:prstGeom>
          <a:noFill/>
          <a:ln>
            <a:noFill/>
          </a:ln>
        </p:spPr>
        <p:txBody>
          <a:bodyPr spcFirstLastPara="1" wrap="square" lIns="91425" tIns="91425" rIns="91425" bIns="91425" anchor="t" anchorCtr="0">
            <a:noAutofit/>
          </a:bodyPr>
          <a:lstStyle/>
          <a:p>
            <a:r>
              <a:rPr lang="en-US" b="1" dirty="0"/>
              <a:t>Feature Engineering: </a:t>
            </a:r>
            <a:br>
              <a:rPr lang="en-US" dirty="0"/>
            </a:br>
            <a:br>
              <a:rPr lang="en-US" dirty="0"/>
            </a:br>
            <a:r>
              <a:rPr lang="en-US" dirty="0"/>
              <a:t>Spam Keyword Features</a:t>
            </a:r>
            <a:br>
              <a:rPr lang="en-US" dirty="0"/>
            </a:br>
            <a:br>
              <a:rPr lang="en-US" dirty="0"/>
            </a:br>
            <a:br>
              <a:rPr lang="en-US" dirty="0"/>
            </a:br>
            <a:br>
              <a:rPr lang="fr-FR" b="1" dirty="0"/>
            </a:br>
            <a:br>
              <a:rPr lang="fr" sz="2400" dirty="0">
                <a:solidFill>
                  <a:srgbClr val="015955"/>
                </a:solidFill>
                <a:latin typeface="Inter"/>
                <a:ea typeface="Inter"/>
                <a:cs typeface="Inter"/>
                <a:sym typeface="Inter"/>
              </a:rPr>
            </a:br>
            <a:br>
              <a:rPr lang="fr" sz="2400" dirty="0">
                <a:solidFill>
                  <a:srgbClr val="015955"/>
                </a:solidFill>
                <a:latin typeface="Inter"/>
                <a:ea typeface="Inter"/>
                <a:cs typeface="Inter"/>
                <a:sym typeface="Inter"/>
              </a:rPr>
            </a:br>
            <a:endParaRPr sz="2400" dirty="0">
              <a:solidFill>
                <a:srgbClr val="015955"/>
              </a:solidFill>
              <a:latin typeface="Inter"/>
              <a:ea typeface="Inter"/>
              <a:cs typeface="Inter"/>
              <a:sym typeface="Inter"/>
            </a:endParaRPr>
          </a:p>
        </p:txBody>
      </p:sp>
      <p:pic>
        <p:nvPicPr>
          <p:cNvPr id="83" name="Google Shape;83;p16">
            <a:extLst>
              <a:ext uri="{FF2B5EF4-FFF2-40B4-BE49-F238E27FC236}">
                <a16:creationId xmlns:a16="http://schemas.microsoft.com/office/drawing/2014/main" id="{2BC48FC5-5319-9C6D-2E6F-456B5FC827C5}"/>
              </a:ext>
            </a:extLst>
          </p:cNvPr>
          <p:cNvPicPr preferRelativeResize="0"/>
          <p:nvPr/>
        </p:nvPicPr>
        <p:blipFill rotWithShape="1">
          <a:blip r:embed="rId3">
            <a:alphaModFix/>
          </a:blip>
          <a:srcRect/>
          <a:stretch/>
        </p:blipFill>
        <p:spPr>
          <a:xfrm>
            <a:off x="463375" y="482852"/>
            <a:ext cx="576900" cy="385904"/>
          </a:xfrm>
          <a:prstGeom prst="rect">
            <a:avLst/>
          </a:prstGeom>
          <a:noFill/>
          <a:ln>
            <a:noFill/>
          </a:ln>
        </p:spPr>
      </p:pic>
      <p:sp>
        <p:nvSpPr>
          <p:cNvPr id="84" name="Google Shape;84;p16">
            <a:extLst>
              <a:ext uri="{FF2B5EF4-FFF2-40B4-BE49-F238E27FC236}">
                <a16:creationId xmlns:a16="http://schemas.microsoft.com/office/drawing/2014/main" id="{6EE85370-EE17-5699-C8B7-0827A399C7AD}"/>
              </a:ext>
            </a:extLst>
          </p:cNvPr>
          <p:cNvSpPr txBox="1">
            <a:spLocks noGrp="1"/>
          </p:cNvSpPr>
          <p:nvPr>
            <p:ph type="ctrTitle" idx="4294967295"/>
          </p:nvPr>
        </p:nvSpPr>
        <p:spPr>
          <a:xfrm>
            <a:off x="3588119" y="579249"/>
            <a:ext cx="5315100" cy="3425576"/>
          </a:xfrm>
          <a:prstGeom prst="rect">
            <a:avLst/>
          </a:prstGeom>
          <a:noFill/>
          <a:ln>
            <a:noFill/>
          </a:ln>
        </p:spPr>
        <p:txBody>
          <a:bodyPr spcFirstLastPara="1" wrap="square" lIns="91425" tIns="91425" rIns="91425" bIns="91425" anchor="t" anchorCtr="0">
            <a:noAutofit/>
          </a:bodyPr>
          <a:lstStyle/>
          <a:p>
            <a:r>
              <a:rPr lang="en-US" sz="1800" dirty="0"/>
              <a:t>Quantifying Spam Indicators based on the initial exploratory data analysis (vocabulary patterns) in spam messages:</a:t>
            </a:r>
            <a:br>
              <a:rPr lang="en-US" sz="1800" dirty="0"/>
            </a:br>
            <a:br>
              <a:rPr lang="en-US" sz="1800" dirty="0"/>
            </a:br>
            <a:r>
              <a:rPr lang="en-US" sz="1800" dirty="0"/>
              <a:t> - </a:t>
            </a:r>
            <a:r>
              <a:rPr lang="en-US" sz="1800" dirty="0" err="1"/>
              <a:t>spam_keyword_count</a:t>
            </a:r>
            <a:r>
              <a:rPr lang="en-US" sz="1800" dirty="0"/>
              <a:t>: counts the occurrences of any defined spam keywords within each message</a:t>
            </a:r>
            <a:br>
              <a:rPr lang="en-US" sz="1800" dirty="0"/>
            </a:br>
            <a:br>
              <a:rPr lang="en-US" sz="1800" dirty="0"/>
            </a:br>
            <a:r>
              <a:rPr lang="en-US" sz="1800" dirty="0"/>
              <a:t> - </a:t>
            </a:r>
            <a:r>
              <a:rPr lang="en-US" sz="1800" dirty="0" err="1"/>
              <a:t>has_spam_keywords</a:t>
            </a:r>
            <a:r>
              <a:rPr lang="en-US" sz="1800" dirty="0"/>
              <a:t>: A binary feature (0 or 1) indicating whether a message contains at least one spam keyword.</a:t>
            </a:r>
            <a:br>
              <a:rPr lang="en-US" sz="1800" dirty="0"/>
            </a:br>
            <a:br>
              <a:rPr lang="en-US" sz="1800" dirty="0"/>
            </a:br>
            <a:br>
              <a:rPr lang="en-US" sz="1600" dirty="0"/>
            </a:br>
            <a:br>
              <a:rPr lang="en-US" dirty="0"/>
            </a:br>
            <a:br>
              <a:rPr lang="fr-FR" sz="1600" dirty="0"/>
            </a:br>
            <a:br>
              <a:rPr lang="fr-FR" dirty="0"/>
            </a:br>
            <a:endParaRPr lang="en-US" sz="1600" dirty="0"/>
          </a:p>
        </p:txBody>
      </p:sp>
    </p:spTree>
    <p:extLst>
      <p:ext uri="{BB962C8B-B14F-4D97-AF65-F5344CB8AC3E}">
        <p14:creationId xmlns:p14="http://schemas.microsoft.com/office/powerpoint/2010/main" val="42345656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0">
          <a:extLst>
            <a:ext uri="{FF2B5EF4-FFF2-40B4-BE49-F238E27FC236}">
              <a16:creationId xmlns:a16="http://schemas.microsoft.com/office/drawing/2014/main" id="{8F6F6F57-6AFE-BFED-9F01-DF1A78855BCA}"/>
            </a:ext>
          </a:extLst>
        </p:cNvPr>
        <p:cNvGrpSpPr/>
        <p:nvPr/>
      </p:nvGrpSpPr>
      <p:grpSpPr>
        <a:xfrm>
          <a:off x="0" y="0"/>
          <a:ext cx="0" cy="0"/>
          <a:chOff x="0" y="0"/>
          <a:chExt cx="0" cy="0"/>
        </a:xfrm>
      </p:grpSpPr>
      <p:sp>
        <p:nvSpPr>
          <p:cNvPr id="81" name="Google Shape;81;p16">
            <a:extLst>
              <a:ext uri="{FF2B5EF4-FFF2-40B4-BE49-F238E27FC236}">
                <a16:creationId xmlns:a16="http://schemas.microsoft.com/office/drawing/2014/main" id="{1556290D-03E2-F98D-D5BD-E242604A9292}"/>
              </a:ext>
            </a:extLst>
          </p:cNvPr>
          <p:cNvSpPr/>
          <p:nvPr/>
        </p:nvSpPr>
        <p:spPr>
          <a:xfrm>
            <a:off x="5499" y="-17775"/>
            <a:ext cx="3520625" cy="5161200"/>
          </a:xfrm>
          <a:prstGeom prst="rect">
            <a:avLst/>
          </a:prstGeom>
          <a:solidFill>
            <a:srgbClr val="C3FFF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a:extLst>
              <a:ext uri="{FF2B5EF4-FFF2-40B4-BE49-F238E27FC236}">
                <a16:creationId xmlns:a16="http://schemas.microsoft.com/office/drawing/2014/main" id="{E512E535-D198-2F88-2297-6469F668886D}"/>
              </a:ext>
            </a:extLst>
          </p:cNvPr>
          <p:cNvSpPr txBox="1">
            <a:spLocks noGrp="1"/>
          </p:cNvSpPr>
          <p:nvPr>
            <p:ph type="title"/>
          </p:nvPr>
        </p:nvSpPr>
        <p:spPr>
          <a:xfrm>
            <a:off x="438808" y="967077"/>
            <a:ext cx="2988031" cy="3774288"/>
          </a:xfrm>
          <a:prstGeom prst="rect">
            <a:avLst/>
          </a:prstGeom>
          <a:noFill/>
          <a:ln>
            <a:noFill/>
          </a:ln>
        </p:spPr>
        <p:txBody>
          <a:bodyPr spcFirstLastPara="1" wrap="square" lIns="91425" tIns="91425" rIns="91425" bIns="91425" anchor="t" anchorCtr="0">
            <a:noAutofit/>
          </a:bodyPr>
          <a:lstStyle/>
          <a:p>
            <a:r>
              <a:rPr lang="en-US" b="1" dirty="0"/>
              <a:t>Text Embedding with Sentence Transformers</a:t>
            </a:r>
            <a:br>
              <a:rPr lang="en-US" dirty="0"/>
            </a:br>
            <a:br>
              <a:rPr lang="en-US" dirty="0"/>
            </a:br>
            <a:r>
              <a:rPr lang="en-US" dirty="0"/>
              <a:t>- Converting Text to Meaningful Vectors</a:t>
            </a:r>
            <a:br>
              <a:rPr lang="fr-FR" b="1" dirty="0"/>
            </a:br>
            <a:br>
              <a:rPr lang="fr" sz="2400" dirty="0">
                <a:solidFill>
                  <a:srgbClr val="015955"/>
                </a:solidFill>
                <a:latin typeface="Inter"/>
                <a:ea typeface="Inter"/>
                <a:cs typeface="Inter"/>
                <a:sym typeface="Inter"/>
              </a:rPr>
            </a:br>
            <a:br>
              <a:rPr lang="fr" sz="2400" dirty="0">
                <a:solidFill>
                  <a:srgbClr val="015955"/>
                </a:solidFill>
                <a:latin typeface="Inter"/>
                <a:ea typeface="Inter"/>
                <a:cs typeface="Inter"/>
                <a:sym typeface="Inter"/>
              </a:rPr>
            </a:br>
            <a:endParaRPr sz="2400" dirty="0">
              <a:solidFill>
                <a:srgbClr val="015955"/>
              </a:solidFill>
              <a:latin typeface="Inter"/>
              <a:ea typeface="Inter"/>
              <a:cs typeface="Inter"/>
              <a:sym typeface="Inter"/>
            </a:endParaRPr>
          </a:p>
        </p:txBody>
      </p:sp>
      <p:pic>
        <p:nvPicPr>
          <p:cNvPr id="83" name="Google Shape;83;p16">
            <a:extLst>
              <a:ext uri="{FF2B5EF4-FFF2-40B4-BE49-F238E27FC236}">
                <a16:creationId xmlns:a16="http://schemas.microsoft.com/office/drawing/2014/main" id="{57B5629A-5A22-78B6-E492-80607E03AD6E}"/>
              </a:ext>
            </a:extLst>
          </p:cNvPr>
          <p:cNvPicPr preferRelativeResize="0"/>
          <p:nvPr/>
        </p:nvPicPr>
        <p:blipFill rotWithShape="1">
          <a:blip r:embed="rId3">
            <a:alphaModFix/>
          </a:blip>
          <a:srcRect/>
          <a:stretch/>
        </p:blipFill>
        <p:spPr>
          <a:xfrm>
            <a:off x="463375" y="482852"/>
            <a:ext cx="576900" cy="385904"/>
          </a:xfrm>
          <a:prstGeom prst="rect">
            <a:avLst/>
          </a:prstGeom>
          <a:noFill/>
          <a:ln>
            <a:noFill/>
          </a:ln>
        </p:spPr>
      </p:pic>
      <p:sp>
        <p:nvSpPr>
          <p:cNvPr id="84" name="Google Shape;84;p16">
            <a:extLst>
              <a:ext uri="{FF2B5EF4-FFF2-40B4-BE49-F238E27FC236}">
                <a16:creationId xmlns:a16="http://schemas.microsoft.com/office/drawing/2014/main" id="{7027E4CB-6B14-257E-99F2-16C5D49C3682}"/>
              </a:ext>
            </a:extLst>
          </p:cNvPr>
          <p:cNvSpPr txBox="1">
            <a:spLocks noGrp="1"/>
          </p:cNvSpPr>
          <p:nvPr>
            <p:ph type="ctrTitle" idx="4294967295"/>
          </p:nvPr>
        </p:nvSpPr>
        <p:spPr>
          <a:xfrm>
            <a:off x="3526124" y="579249"/>
            <a:ext cx="5315100" cy="3425576"/>
          </a:xfrm>
          <a:prstGeom prst="rect">
            <a:avLst/>
          </a:prstGeom>
          <a:noFill/>
          <a:ln>
            <a:noFill/>
          </a:ln>
        </p:spPr>
        <p:txBody>
          <a:bodyPr spcFirstLastPara="1" wrap="square" lIns="91425" tIns="91425" rIns="91425" bIns="91425" anchor="t" anchorCtr="0">
            <a:noAutofit/>
          </a:bodyPr>
          <a:lstStyle/>
          <a:p>
            <a:r>
              <a:rPr lang="en-US" sz="1800" b="1" dirty="0"/>
              <a:t>Sentence Transformer Model: </a:t>
            </a:r>
            <a:br>
              <a:rPr lang="en-US" sz="1800" b="1" dirty="0"/>
            </a:br>
            <a:r>
              <a:rPr lang="en-US" sz="1800" dirty="0"/>
              <a:t>Use of </a:t>
            </a:r>
            <a:r>
              <a:rPr lang="en-US" sz="1800" b="1" dirty="0"/>
              <a:t>all-MiniLM-L6-v2</a:t>
            </a:r>
            <a:r>
              <a:rPr lang="en-US" sz="1800" dirty="0"/>
              <a:t> known for its excellent balance of speed and performance.</a:t>
            </a:r>
            <a:br>
              <a:rPr lang="en-US" sz="1800" dirty="0"/>
            </a:br>
            <a:br>
              <a:rPr lang="en-US" sz="1800" dirty="0"/>
            </a:br>
            <a:r>
              <a:rPr lang="en-US" sz="1800" b="1" dirty="0"/>
              <a:t>Embedding Generation:</a:t>
            </a:r>
            <a:br>
              <a:rPr lang="en-US" sz="1800" dirty="0"/>
            </a:br>
            <a:r>
              <a:rPr lang="en-US" sz="1800" dirty="0"/>
              <a:t>Each message was transformed into a dense numerical vector of 384 dimensions.</a:t>
            </a:r>
            <a:br>
              <a:rPr lang="en-US" sz="1800" dirty="0"/>
            </a:br>
            <a:br>
              <a:rPr lang="en-US" sz="1800" dirty="0"/>
            </a:br>
            <a:r>
              <a:rPr lang="en-US" sz="1800" b="1" dirty="0"/>
              <a:t>Combination with Engineered Features:</a:t>
            </a:r>
            <a:br>
              <a:rPr lang="en-US" sz="1800" b="1" dirty="0"/>
            </a:br>
            <a:r>
              <a:rPr lang="en-US" sz="1800" dirty="0"/>
              <a:t>Semantic embeddings were concatenated with the 8 domain-specific engineered features =&gt; combined feature set of 392 dimensions per message</a:t>
            </a:r>
            <a:br>
              <a:rPr lang="en-US" sz="1800" dirty="0"/>
            </a:br>
            <a:br>
              <a:rPr lang="en-US" sz="1800" dirty="0"/>
            </a:br>
            <a:br>
              <a:rPr lang="en-US" dirty="0"/>
            </a:br>
            <a:br>
              <a:rPr lang="fr-FR" sz="1600" dirty="0"/>
            </a:br>
            <a:br>
              <a:rPr lang="fr-FR" dirty="0"/>
            </a:br>
            <a:endParaRPr lang="en-US" sz="1600" dirty="0"/>
          </a:p>
        </p:txBody>
      </p:sp>
    </p:spTree>
    <p:extLst>
      <p:ext uri="{BB962C8B-B14F-4D97-AF65-F5344CB8AC3E}">
        <p14:creationId xmlns:p14="http://schemas.microsoft.com/office/powerpoint/2010/main" val="33491170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0">
          <a:extLst>
            <a:ext uri="{FF2B5EF4-FFF2-40B4-BE49-F238E27FC236}">
              <a16:creationId xmlns:a16="http://schemas.microsoft.com/office/drawing/2014/main" id="{02B21633-A302-B122-070F-EE3BF75793C4}"/>
            </a:ext>
          </a:extLst>
        </p:cNvPr>
        <p:cNvGrpSpPr/>
        <p:nvPr/>
      </p:nvGrpSpPr>
      <p:grpSpPr>
        <a:xfrm>
          <a:off x="0" y="0"/>
          <a:ext cx="0" cy="0"/>
          <a:chOff x="0" y="0"/>
          <a:chExt cx="0" cy="0"/>
        </a:xfrm>
      </p:grpSpPr>
      <p:sp>
        <p:nvSpPr>
          <p:cNvPr id="81" name="Google Shape;81;p16">
            <a:extLst>
              <a:ext uri="{FF2B5EF4-FFF2-40B4-BE49-F238E27FC236}">
                <a16:creationId xmlns:a16="http://schemas.microsoft.com/office/drawing/2014/main" id="{139D937E-D131-0341-A71C-7F7B2AEBEAF7}"/>
              </a:ext>
            </a:extLst>
          </p:cNvPr>
          <p:cNvSpPr/>
          <p:nvPr/>
        </p:nvSpPr>
        <p:spPr>
          <a:xfrm>
            <a:off x="5499" y="-17775"/>
            <a:ext cx="3233647" cy="5161200"/>
          </a:xfrm>
          <a:prstGeom prst="rect">
            <a:avLst/>
          </a:prstGeom>
          <a:solidFill>
            <a:srgbClr val="C3FFF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a:extLst>
              <a:ext uri="{FF2B5EF4-FFF2-40B4-BE49-F238E27FC236}">
                <a16:creationId xmlns:a16="http://schemas.microsoft.com/office/drawing/2014/main" id="{4746BB85-C109-9BF1-7903-520960EEB0B6}"/>
              </a:ext>
            </a:extLst>
          </p:cNvPr>
          <p:cNvSpPr txBox="1">
            <a:spLocks noGrp="1"/>
          </p:cNvSpPr>
          <p:nvPr>
            <p:ph type="title"/>
          </p:nvPr>
        </p:nvSpPr>
        <p:spPr>
          <a:xfrm>
            <a:off x="438808" y="967077"/>
            <a:ext cx="2988031" cy="3774288"/>
          </a:xfrm>
          <a:prstGeom prst="rect">
            <a:avLst/>
          </a:prstGeom>
          <a:noFill/>
          <a:ln>
            <a:noFill/>
          </a:ln>
        </p:spPr>
        <p:txBody>
          <a:bodyPr spcFirstLastPara="1" wrap="square" lIns="91425" tIns="91425" rIns="91425" bIns="91425" anchor="t" anchorCtr="0">
            <a:noAutofit/>
          </a:bodyPr>
          <a:lstStyle/>
          <a:p>
            <a:r>
              <a:rPr lang="en-US" b="1" dirty="0"/>
              <a:t>Data Preparation for Deep Learning</a:t>
            </a:r>
            <a:br>
              <a:rPr lang="en-US" dirty="0"/>
            </a:br>
            <a:br>
              <a:rPr lang="en-US" dirty="0"/>
            </a:br>
            <a:br>
              <a:rPr lang="fr-FR" b="1" dirty="0"/>
            </a:br>
            <a:br>
              <a:rPr lang="fr" sz="2400" dirty="0">
                <a:solidFill>
                  <a:srgbClr val="015955"/>
                </a:solidFill>
                <a:latin typeface="Inter"/>
                <a:ea typeface="Inter"/>
                <a:cs typeface="Inter"/>
                <a:sym typeface="Inter"/>
              </a:rPr>
            </a:br>
            <a:br>
              <a:rPr lang="fr" sz="2400" dirty="0">
                <a:solidFill>
                  <a:srgbClr val="015955"/>
                </a:solidFill>
                <a:latin typeface="Inter"/>
                <a:ea typeface="Inter"/>
                <a:cs typeface="Inter"/>
                <a:sym typeface="Inter"/>
              </a:rPr>
            </a:br>
            <a:endParaRPr sz="2400" dirty="0">
              <a:solidFill>
                <a:srgbClr val="015955"/>
              </a:solidFill>
              <a:latin typeface="Inter"/>
              <a:ea typeface="Inter"/>
              <a:cs typeface="Inter"/>
              <a:sym typeface="Inter"/>
            </a:endParaRPr>
          </a:p>
        </p:txBody>
      </p:sp>
      <p:pic>
        <p:nvPicPr>
          <p:cNvPr id="83" name="Google Shape;83;p16">
            <a:extLst>
              <a:ext uri="{FF2B5EF4-FFF2-40B4-BE49-F238E27FC236}">
                <a16:creationId xmlns:a16="http://schemas.microsoft.com/office/drawing/2014/main" id="{46E5E1CD-1470-25A2-1751-D84460151E69}"/>
              </a:ext>
            </a:extLst>
          </p:cNvPr>
          <p:cNvPicPr preferRelativeResize="0"/>
          <p:nvPr/>
        </p:nvPicPr>
        <p:blipFill rotWithShape="1">
          <a:blip r:embed="rId3">
            <a:alphaModFix/>
          </a:blip>
          <a:srcRect/>
          <a:stretch/>
        </p:blipFill>
        <p:spPr>
          <a:xfrm>
            <a:off x="463375" y="482852"/>
            <a:ext cx="576900" cy="385904"/>
          </a:xfrm>
          <a:prstGeom prst="rect">
            <a:avLst/>
          </a:prstGeom>
          <a:noFill/>
          <a:ln>
            <a:noFill/>
          </a:ln>
        </p:spPr>
      </p:pic>
      <p:sp>
        <p:nvSpPr>
          <p:cNvPr id="84" name="Google Shape;84;p16">
            <a:extLst>
              <a:ext uri="{FF2B5EF4-FFF2-40B4-BE49-F238E27FC236}">
                <a16:creationId xmlns:a16="http://schemas.microsoft.com/office/drawing/2014/main" id="{DA6BDDE3-2229-9F18-4C91-5D4059FDA079}"/>
              </a:ext>
            </a:extLst>
          </p:cNvPr>
          <p:cNvSpPr txBox="1">
            <a:spLocks noGrp="1"/>
          </p:cNvSpPr>
          <p:nvPr>
            <p:ph type="ctrTitle" idx="4294967295"/>
          </p:nvPr>
        </p:nvSpPr>
        <p:spPr>
          <a:xfrm>
            <a:off x="3318887" y="129873"/>
            <a:ext cx="5819614" cy="5013627"/>
          </a:xfrm>
          <a:prstGeom prst="rect">
            <a:avLst/>
          </a:prstGeom>
          <a:noFill/>
          <a:ln>
            <a:noFill/>
          </a:ln>
        </p:spPr>
        <p:txBody>
          <a:bodyPr spcFirstLastPara="1" wrap="square" lIns="91425" tIns="91425" rIns="91425" bIns="91425" anchor="t" anchorCtr="0">
            <a:noAutofit/>
          </a:bodyPr>
          <a:lstStyle/>
          <a:p>
            <a:r>
              <a:rPr lang="en-US" sz="1600" b="1" dirty="0"/>
              <a:t>Train-Test Split:</a:t>
            </a:r>
            <a:br>
              <a:rPr lang="en-US" sz="1600" dirty="0"/>
            </a:br>
            <a:r>
              <a:rPr lang="en-US" sz="1600" dirty="0"/>
              <a:t>The dataset was divided into training (80%) and testing (20%) sets.</a:t>
            </a:r>
            <a:br>
              <a:rPr lang="en-US" sz="1600" dirty="0"/>
            </a:br>
            <a:br>
              <a:rPr lang="en-US" sz="1600" dirty="0"/>
            </a:br>
            <a:r>
              <a:rPr lang="en-US" sz="1600" b="1" dirty="0"/>
              <a:t>Feature Scaling:</a:t>
            </a:r>
            <a:br>
              <a:rPr lang="en-US" sz="1600" dirty="0"/>
            </a:br>
            <a:r>
              <a:rPr lang="en-US" sz="1600" dirty="0" err="1"/>
              <a:t>StandardScaler</a:t>
            </a:r>
            <a:r>
              <a:rPr lang="en-US" sz="1600" dirty="0"/>
              <a:t> was applied to both sentence embeddings and engineered features.</a:t>
            </a:r>
            <a:br>
              <a:rPr lang="en-US" sz="1600" dirty="0"/>
            </a:br>
            <a:br>
              <a:rPr lang="en-US" sz="1600" dirty="0"/>
            </a:br>
            <a:r>
              <a:rPr lang="en-US" sz="1600" b="1" dirty="0"/>
              <a:t>Class Weighting:</a:t>
            </a:r>
            <a:br>
              <a:rPr lang="en-US" sz="1600" dirty="0"/>
            </a:br>
            <a:r>
              <a:rPr lang="en-US" sz="1600" dirty="0"/>
              <a:t>Recognizing the significant class imbalance to give higher importance to the minority 'spam' class during training, preventing the model from becoming biased towards the majority 'ham' class.</a:t>
            </a:r>
            <a:br>
              <a:rPr lang="en-US" sz="1600" dirty="0"/>
            </a:br>
            <a:br>
              <a:rPr lang="en-US" sz="1600" dirty="0"/>
            </a:br>
            <a:r>
              <a:rPr lang="en-US" sz="1600" b="1" dirty="0"/>
              <a:t>Conversion to </a:t>
            </a:r>
            <a:r>
              <a:rPr lang="en-US" sz="1600" b="1" dirty="0" err="1"/>
              <a:t>PyTorch</a:t>
            </a:r>
            <a:r>
              <a:rPr lang="en-US" sz="1600" b="1" dirty="0"/>
              <a:t> Tensors and </a:t>
            </a:r>
            <a:r>
              <a:rPr lang="en-US" sz="1600" b="1" dirty="0" err="1"/>
              <a:t>DataLoaders</a:t>
            </a:r>
            <a:r>
              <a:rPr lang="en-US" sz="1600" b="1" dirty="0"/>
              <a:t>:</a:t>
            </a:r>
            <a:br>
              <a:rPr lang="en-US" sz="1600" b="1" dirty="0"/>
            </a:br>
            <a:r>
              <a:rPr lang="en-US" sz="1600" dirty="0"/>
              <a:t>Scaled features and labels were converted into </a:t>
            </a:r>
            <a:r>
              <a:rPr lang="en-US" sz="1600" dirty="0" err="1"/>
              <a:t>torch.FloatTensor</a:t>
            </a:r>
            <a:r>
              <a:rPr lang="en-US" sz="1600" dirty="0"/>
              <a:t>.</a:t>
            </a:r>
            <a:br>
              <a:rPr lang="en-US" sz="1600" dirty="0"/>
            </a:br>
            <a:r>
              <a:rPr lang="en-US" sz="1600" dirty="0" err="1"/>
              <a:t>TensorDataset</a:t>
            </a:r>
            <a:r>
              <a:rPr lang="en-US" sz="1600" dirty="0"/>
              <a:t> and </a:t>
            </a:r>
            <a:r>
              <a:rPr lang="en-US" sz="1600" dirty="0" err="1"/>
              <a:t>DataLoader</a:t>
            </a:r>
            <a:r>
              <a:rPr lang="en-US" sz="1600" dirty="0"/>
              <a:t> were created to efficiently feed data to the neural networks in batches during training and evaluation, leveraging GPU acceleration.</a:t>
            </a:r>
            <a:br>
              <a:rPr lang="en-US" dirty="0"/>
            </a:br>
            <a:br>
              <a:rPr lang="en-US" sz="1600" dirty="0"/>
            </a:br>
            <a:br>
              <a:rPr lang="en-US" dirty="0"/>
            </a:br>
            <a:br>
              <a:rPr lang="fr-FR" sz="1600" dirty="0"/>
            </a:br>
            <a:br>
              <a:rPr lang="fr-FR" dirty="0"/>
            </a:br>
            <a:endParaRPr lang="en-US" sz="1600" dirty="0"/>
          </a:p>
        </p:txBody>
      </p:sp>
    </p:spTree>
    <p:extLst>
      <p:ext uri="{BB962C8B-B14F-4D97-AF65-F5344CB8AC3E}">
        <p14:creationId xmlns:p14="http://schemas.microsoft.com/office/powerpoint/2010/main" val="24164716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0">
          <a:extLst>
            <a:ext uri="{FF2B5EF4-FFF2-40B4-BE49-F238E27FC236}">
              <a16:creationId xmlns:a16="http://schemas.microsoft.com/office/drawing/2014/main" id="{D9DE7D89-C1F7-A4A3-4CED-1BDCD203B867}"/>
            </a:ext>
          </a:extLst>
        </p:cNvPr>
        <p:cNvGrpSpPr/>
        <p:nvPr/>
      </p:nvGrpSpPr>
      <p:grpSpPr>
        <a:xfrm>
          <a:off x="0" y="0"/>
          <a:ext cx="0" cy="0"/>
          <a:chOff x="0" y="0"/>
          <a:chExt cx="0" cy="0"/>
        </a:xfrm>
      </p:grpSpPr>
      <p:sp>
        <p:nvSpPr>
          <p:cNvPr id="81" name="Google Shape;81;p16">
            <a:extLst>
              <a:ext uri="{FF2B5EF4-FFF2-40B4-BE49-F238E27FC236}">
                <a16:creationId xmlns:a16="http://schemas.microsoft.com/office/drawing/2014/main" id="{C8806206-5BF8-B5CB-7F02-C901346802F4}"/>
              </a:ext>
            </a:extLst>
          </p:cNvPr>
          <p:cNvSpPr/>
          <p:nvPr/>
        </p:nvSpPr>
        <p:spPr>
          <a:xfrm>
            <a:off x="5499" y="-17775"/>
            <a:ext cx="3520625" cy="5161200"/>
          </a:xfrm>
          <a:prstGeom prst="rect">
            <a:avLst/>
          </a:prstGeom>
          <a:solidFill>
            <a:srgbClr val="C3FFF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a:extLst>
              <a:ext uri="{FF2B5EF4-FFF2-40B4-BE49-F238E27FC236}">
                <a16:creationId xmlns:a16="http://schemas.microsoft.com/office/drawing/2014/main" id="{A76B9C11-15D3-4C6F-276A-F0FAA446B3B5}"/>
              </a:ext>
            </a:extLst>
          </p:cNvPr>
          <p:cNvSpPr txBox="1">
            <a:spLocks noGrp="1"/>
          </p:cNvSpPr>
          <p:nvPr>
            <p:ph type="title"/>
          </p:nvPr>
        </p:nvSpPr>
        <p:spPr>
          <a:xfrm>
            <a:off x="438808" y="967077"/>
            <a:ext cx="2988031" cy="3774288"/>
          </a:xfrm>
          <a:prstGeom prst="rect">
            <a:avLst/>
          </a:prstGeom>
          <a:noFill/>
          <a:ln>
            <a:noFill/>
          </a:ln>
        </p:spPr>
        <p:txBody>
          <a:bodyPr spcFirstLastPara="1" wrap="square" lIns="91425" tIns="91425" rIns="91425" bIns="91425" anchor="t" anchorCtr="0">
            <a:noAutofit/>
          </a:bodyPr>
          <a:lstStyle/>
          <a:p>
            <a:r>
              <a:rPr lang="fr-FR" b="1" dirty="0"/>
              <a:t>Neural Network </a:t>
            </a:r>
            <a:r>
              <a:rPr lang="fr-FR" b="1" dirty="0" err="1"/>
              <a:t>Models</a:t>
            </a:r>
            <a:r>
              <a:rPr lang="fr-FR" b="1" dirty="0"/>
              <a:t> Architecture</a:t>
            </a:r>
            <a:br>
              <a:rPr lang="fr-FR" dirty="0"/>
            </a:br>
            <a:br>
              <a:rPr lang="en-US" dirty="0"/>
            </a:br>
            <a:r>
              <a:rPr lang="en-US" sz="2000" dirty="0"/>
              <a:t>- 2 lean feed-forward neural networks for efficient binary classification</a:t>
            </a:r>
            <a:br>
              <a:rPr lang="fr-FR" b="1" dirty="0"/>
            </a:br>
            <a:br>
              <a:rPr lang="fr" sz="2400" dirty="0">
                <a:solidFill>
                  <a:srgbClr val="015955"/>
                </a:solidFill>
                <a:latin typeface="Inter"/>
                <a:ea typeface="Inter"/>
                <a:cs typeface="Inter"/>
                <a:sym typeface="Inter"/>
              </a:rPr>
            </a:br>
            <a:br>
              <a:rPr lang="fr" sz="2400" dirty="0">
                <a:solidFill>
                  <a:srgbClr val="015955"/>
                </a:solidFill>
                <a:latin typeface="Inter"/>
                <a:ea typeface="Inter"/>
                <a:cs typeface="Inter"/>
                <a:sym typeface="Inter"/>
              </a:rPr>
            </a:br>
            <a:endParaRPr sz="2400" dirty="0">
              <a:solidFill>
                <a:srgbClr val="015955"/>
              </a:solidFill>
              <a:latin typeface="Inter"/>
              <a:ea typeface="Inter"/>
              <a:cs typeface="Inter"/>
              <a:sym typeface="Inter"/>
            </a:endParaRPr>
          </a:p>
        </p:txBody>
      </p:sp>
      <p:pic>
        <p:nvPicPr>
          <p:cNvPr id="83" name="Google Shape;83;p16">
            <a:extLst>
              <a:ext uri="{FF2B5EF4-FFF2-40B4-BE49-F238E27FC236}">
                <a16:creationId xmlns:a16="http://schemas.microsoft.com/office/drawing/2014/main" id="{1672457B-229E-7F7A-C9FF-AD2C3D6ABAA0}"/>
              </a:ext>
            </a:extLst>
          </p:cNvPr>
          <p:cNvPicPr preferRelativeResize="0"/>
          <p:nvPr/>
        </p:nvPicPr>
        <p:blipFill rotWithShape="1">
          <a:blip r:embed="rId3">
            <a:alphaModFix/>
          </a:blip>
          <a:srcRect/>
          <a:stretch/>
        </p:blipFill>
        <p:spPr>
          <a:xfrm>
            <a:off x="463375" y="482852"/>
            <a:ext cx="576900" cy="385904"/>
          </a:xfrm>
          <a:prstGeom prst="rect">
            <a:avLst/>
          </a:prstGeom>
          <a:noFill/>
          <a:ln>
            <a:noFill/>
          </a:ln>
        </p:spPr>
      </p:pic>
      <p:sp>
        <p:nvSpPr>
          <p:cNvPr id="84" name="Google Shape;84;p16">
            <a:extLst>
              <a:ext uri="{FF2B5EF4-FFF2-40B4-BE49-F238E27FC236}">
                <a16:creationId xmlns:a16="http://schemas.microsoft.com/office/drawing/2014/main" id="{2BE524D9-0AA5-9467-7381-4ECE57E3DE0D}"/>
              </a:ext>
            </a:extLst>
          </p:cNvPr>
          <p:cNvSpPr txBox="1">
            <a:spLocks noGrp="1"/>
          </p:cNvSpPr>
          <p:nvPr>
            <p:ph type="ctrTitle" idx="4294967295"/>
          </p:nvPr>
        </p:nvSpPr>
        <p:spPr>
          <a:xfrm>
            <a:off x="3588119" y="579249"/>
            <a:ext cx="5315100" cy="3425576"/>
          </a:xfrm>
          <a:prstGeom prst="rect">
            <a:avLst/>
          </a:prstGeom>
          <a:noFill/>
          <a:ln>
            <a:noFill/>
          </a:ln>
        </p:spPr>
        <p:txBody>
          <a:bodyPr spcFirstLastPara="1" wrap="square" lIns="91425" tIns="91425" rIns="91425" bIns="91425" anchor="t" anchorCtr="0">
            <a:noAutofit/>
          </a:bodyPr>
          <a:lstStyle/>
          <a:p>
            <a:r>
              <a:rPr lang="fr-FR" sz="1400" b="1" dirty="0" err="1"/>
              <a:t>SimpleSpamDetector</a:t>
            </a:r>
            <a:r>
              <a:rPr lang="fr-FR" sz="1400" b="1" dirty="0"/>
              <a:t>:</a:t>
            </a:r>
            <a:br>
              <a:rPr lang="fr-FR" sz="1400" dirty="0"/>
            </a:br>
            <a:br>
              <a:rPr lang="fr-FR" sz="1400" dirty="0"/>
            </a:br>
            <a:r>
              <a:rPr lang="fr-FR" sz="1400" dirty="0"/>
              <a:t>Architecture: Input Layer (392 </a:t>
            </a:r>
            <a:r>
              <a:rPr lang="fr-FR" sz="1400" dirty="0" err="1"/>
              <a:t>features</a:t>
            </a:r>
            <a:r>
              <a:rPr lang="fr-FR" sz="1400" dirty="0"/>
              <a:t>) → </a:t>
            </a:r>
            <a:r>
              <a:rPr lang="fr-FR" sz="1400" dirty="0" err="1"/>
              <a:t>Hidden</a:t>
            </a:r>
            <a:r>
              <a:rPr lang="fr-FR" sz="1400" dirty="0"/>
              <a:t> Layer (128 </a:t>
            </a:r>
            <a:r>
              <a:rPr lang="fr-FR" sz="1400" dirty="0" err="1"/>
              <a:t>neurons</a:t>
            </a:r>
            <a:r>
              <a:rPr lang="fr-FR" sz="1400" dirty="0"/>
              <a:t>, </a:t>
            </a:r>
            <a:r>
              <a:rPr lang="fr-FR" sz="1400" dirty="0" err="1"/>
              <a:t>ReLU</a:t>
            </a:r>
            <a:r>
              <a:rPr lang="fr-FR" sz="1400" dirty="0"/>
              <a:t> activation, Dropout) → Output Layer (1 </a:t>
            </a:r>
            <a:r>
              <a:rPr lang="fr-FR" sz="1400" dirty="0" err="1"/>
              <a:t>neuron</a:t>
            </a:r>
            <a:r>
              <a:rPr lang="fr-FR" sz="1400" dirty="0"/>
              <a:t>, </a:t>
            </a:r>
            <a:r>
              <a:rPr lang="fr-FR" sz="1400" dirty="0" err="1"/>
              <a:t>Sigmoid</a:t>
            </a:r>
            <a:r>
              <a:rPr lang="fr-FR" sz="1400" dirty="0"/>
              <a:t> activation for </a:t>
            </a:r>
            <a:r>
              <a:rPr lang="fr-FR" sz="1400" dirty="0" err="1"/>
              <a:t>probability</a:t>
            </a:r>
            <a:r>
              <a:rPr lang="fr-FR" sz="1400" dirty="0"/>
              <a:t>).</a:t>
            </a:r>
            <a:br>
              <a:rPr lang="fr-FR" sz="1400" dirty="0"/>
            </a:br>
            <a:r>
              <a:rPr lang="fr-FR" sz="1400" dirty="0" err="1"/>
              <a:t>Parameters</a:t>
            </a:r>
            <a:r>
              <a:rPr lang="fr-FR" sz="1400" dirty="0"/>
              <a:t>: </a:t>
            </a:r>
            <a:r>
              <a:rPr lang="fr-FR" sz="1400" dirty="0" err="1"/>
              <a:t>Approximately</a:t>
            </a:r>
            <a:r>
              <a:rPr lang="fr-FR" sz="1400" dirty="0"/>
              <a:t> 50,433.</a:t>
            </a:r>
            <a:br>
              <a:rPr lang="fr-FR" sz="1400" dirty="0"/>
            </a:br>
            <a:r>
              <a:rPr lang="fr-FR" sz="1400" dirty="0" err="1"/>
              <a:t>Purpose</a:t>
            </a:r>
            <a:r>
              <a:rPr lang="fr-FR" sz="1400" dirty="0"/>
              <a:t>: A </a:t>
            </a:r>
            <a:r>
              <a:rPr lang="fr-FR" sz="1400" dirty="0" err="1"/>
              <a:t>foundational</a:t>
            </a:r>
            <a:r>
              <a:rPr lang="fr-FR" sz="1400" dirty="0"/>
              <a:t> model to </a:t>
            </a:r>
            <a:r>
              <a:rPr lang="fr-FR" sz="1400" dirty="0" err="1"/>
              <a:t>leverage</a:t>
            </a:r>
            <a:r>
              <a:rPr lang="fr-FR" sz="1400" dirty="0"/>
              <a:t> the </a:t>
            </a:r>
            <a:r>
              <a:rPr lang="fr-FR" sz="1400" dirty="0" err="1"/>
              <a:t>combined</a:t>
            </a:r>
            <a:r>
              <a:rPr lang="fr-FR" sz="1400" dirty="0"/>
              <a:t> </a:t>
            </a:r>
            <a:r>
              <a:rPr lang="fr-FR" sz="1400" dirty="0" err="1"/>
              <a:t>semantic</a:t>
            </a:r>
            <a:r>
              <a:rPr lang="fr-FR" sz="1400" dirty="0"/>
              <a:t> </a:t>
            </a:r>
            <a:r>
              <a:rPr lang="fr-FR" sz="1400" dirty="0" err="1"/>
              <a:t>embeddings</a:t>
            </a:r>
            <a:r>
              <a:rPr lang="fr-FR" sz="1400" dirty="0"/>
              <a:t> and </a:t>
            </a:r>
            <a:r>
              <a:rPr lang="fr-FR" sz="1400" dirty="0" err="1"/>
              <a:t>engineered</a:t>
            </a:r>
            <a:r>
              <a:rPr lang="fr-FR" sz="1400" dirty="0"/>
              <a:t> </a:t>
            </a:r>
            <a:r>
              <a:rPr lang="fr-FR" sz="1400" dirty="0" err="1"/>
              <a:t>features</a:t>
            </a:r>
            <a:r>
              <a:rPr lang="fr-FR" sz="1400" dirty="0"/>
              <a:t>.</a:t>
            </a:r>
            <a:br>
              <a:rPr lang="fr-FR" sz="1400" dirty="0"/>
            </a:br>
            <a:br>
              <a:rPr lang="fr-FR" sz="1400" dirty="0"/>
            </a:br>
            <a:r>
              <a:rPr lang="fr-FR" sz="1400" b="1" dirty="0" err="1"/>
              <a:t>UltraSimpleSpamDetector</a:t>
            </a:r>
            <a:r>
              <a:rPr lang="fr-FR" sz="1400" b="1" dirty="0"/>
              <a:t>:</a:t>
            </a:r>
            <a:br>
              <a:rPr lang="fr-FR" sz="1400" dirty="0"/>
            </a:br>
            <a:br>
              <a:rPr lang="fr-FR" sz="1400" dirty="0"/>
            </a:br>
            <a:r>
              <a:rPr lang="fr-FR" sz="1400" dirty="0"/>
              <a:t>Architecture: Input Layer (392 </a:t>
            </a:r>
            <a:r>
              <a:rPr lang="fr-FR" sz="1400" dirty="0" err="1"/>
              <a:t>features</a:t>
            </a:r>
            <a:r>
              <a:rPr lang="fr-FR" sz="1400" dirty="0"/>
              <a:t>) → </a:t>
            </a:r>
            <a:r>
              <a:rPr lang="fr-FR" sz="1400" dirty="0" err="1"/>
              <a:t>Hidden</a:t>
            </a:r>
            <a:r>
              <a:rPr lang="fr-FR" sz="1400" dirty="0"/>
              <a:t> Layer (64 </a:t>
            </a:r>
            <a:r>
              <a:rPr lang="fr-FR" sz="1400" dirty="0" err="1"/>
              <a:t>neurons</a:t>
            </a:r>
            <a:r>
              <a:rPr lang="fr-FR" sz="1400" dirty="0"/>
              <a:t>, </a:t>
            </a:r>
            <a:r>
              <a:rPr lang="fr-FR" sz="1400" dirty="0" err="1"/>
              <a:t>ReLU</a:t>
            </a:r>
            <a:r>
              <a:rPr lang="fr-FR" sz="1400" dirty="0"/>
              <a:t> activation, Dropout) → Output Layer (1 </a:t>
            </a:r>
            <a:r>
              <a:rPr lang="fr-FR" sz="1400" dirty="0" err="1"/>
              <a:t>neuron</a:t>
            </a:r>
            <a:r>
              <a:rPr lang="fr-FR" sz="1400" dirty="0"/>
              <a:t>, </a:t>
            </a:r>
            <a:r>
              <a:rPr lang="fr-FR" sz="1400" dirty="0" err="1"/>
              <a:t>Sigmoid</a:t>
            </a:r>
            <a:r>
              <a:rPr lang="fr-FR" sz="1400" dirty="0"/>
              <a:t> activation for </a:t>
            </a:r>
            <a:r>
              <a:rPr lang="fr-FR" sz="1400" dirty="0" err="1"/>
              <a:t>probability</a:t>
            </a:r>
            <a:r>
              <a:rPr lang="fr-FR" sz="1400" dirty="0"/>
              <a:t>).</a:t>
            </a:r>
            <a:br>
              <a:rPr lang="fr-FR" sz="1400" dirty="0"/>
            </a:br>
            <a:r>
              <a:rPr lang="fr-FR" sz="1400" dirty="0" err="1"/>
              <a:t>Parameters</a:t>
            </a:r>
            <a:r>
              <a:rPr lang="fr-FR" sz="1400" dirty="0"/>
              <a:t>: </a:t>
            </a:r>
            <a:r>
              <a:rPr lang="fr-FR" sz="1400" dirty="0" err="1"/>
              <a:t>Approximately</a:t>
            </a:r>
            <a:r>
              <a:rPr lang="fr-FR" sz="1400" dirty="0"/>
              <a:t> 25,217.</a:t>
            </a:r>
            <a:br>
              <a:rPr lang="fr-FR" sz="1400" dirty="0"/>
            </a:br>
            <a:r>
              <a:rPr lang="fr-FR" sz="1400" dirty="0" err="1"/>
              <a:t>Purpose</a:t>
            </a:r>
            <a:r>
              <a:rPr lang="fr-FR" sz="1400" dirty="0"/>
              <a:t>: A </a:t>
            </a:r>
            <a:r>
              <a:rPr lang="fr-FR" sz="1400" dirty="0" err="1"/>
              <a:t>highly</a:t>
            </a:r>
            <a:r>
              <a:rPr lang="fr-FR" sz="1400" dirty="0"/>
              <a:t> efficient, minimal model </a:t>
            </a:r>
            <a:r>
              <a:rPr lang="fr-FR" sz="1400" dirty="0" err="1"/>
              <a:t>designed</a:t>
            </a:r>
            <a:r>
              <a:rPr lang="fr-FR" sz="1400" dirty="0"/>
              <a:t> for </a:t>
            </a:r>
            <a:r>
              <a:rPr lang="fr-FR" sz="1400" dirty="0" err="1"/>
              <a:t>faster</a:t>
            </a:r>
            <a:r>
              <a:rPr lang="fr-FR" sz="1400" dirty="0"/>
              <a:t> training and </a:t>
            </a:r>
            <a:r>
              <a:rPr lang="fr-FR" sz="1400" dirty="0" err="1"/>
              <a:t>deployment</a:t>
            </a:r>
            <a:r>
              <a:rPr lang="fr-FR" sz="1400" dirty="0"/>
              <a:t> </a:t>
            </a:r>
            <a:r>
              <a:rPr lang="fr-FR" sz="1400" dirty="0" err="1"/>
              <a:t>with</a:t>
            </a:r>
            <a:r>
              <a:rPr lang="fr-FR" sz="1400" dirty="0"/>
              <a:t> comparable performance.</a:t>
            </a:r>
            <a:br>
              <a:rPr lang="fr-FR" dirty="0"/>
            </a:br>
            <a:br>
              <a:rPr lang="en-US" dirty="0"/>
            </a:br>
            <a:br>
              <a:rPr lang="en-US" sz="1600" dirty="0"/>
            </a:br>
            <a:br>
              <a:rPr lang="en-US" dirty="0"/>
            </a:br>
            <a:br>
              <a:rPr lang="fr-FR" sz="1600" dirty="0"/>
            </a:br>
            <a:br>
              <a:rPr lang="fr-FR" dirty="0"/>
            </a:br>
            <a:endParaRPr lang="en-US" sz="1600" dirty="0"/>
          </a:p>
        </p:txBody>
      </p:sp>
    </p:spTree>
    <p:extLst>
      <p:ext uri="{BB962C8B-B14F-4D97-AF65-F5344CB8AC3E}">
        <p14:creationId xmlns:p14="http://schemas.microsoft.com/office/powerpoint/2010/main" val="8519159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80">
          <a:extLst>
            <a:ext uri="{FF2B5EF4-FFF2-40B4-BE49-F238E27FC236}">
              <a16:creationId xmlns:a16="http://schemas.microsoft.com/office/drawing/2014/main" id="{8F107260-E9E3-F2FF-2773-9B1ED7275C4E}"/>
            </a:ext>
          </a:extLst>
        </p:cNvPr>
        <p:cNvGrpSpPr/>
        <p:nvPr/>
      </p:nvGrpSpPr>
      <p:grpSpPr>
        <a:xfrm>
          <a:off x="0" y="0"/>
          <a:ext cx="0" cy="0"/>
          <a:chOff x="0" y="0"/>
          <a:chExt cx="0" cy="0"/>
        </a:xfrm>
      </p:grpSpPr>
      <p:sp>
        <p:nvSpPr>
          <p:cNvPr id="81" name="Google Shape;81;p16">
            <a:extLst>
              <a:ext uri="{FF2B5EF4-FFF2-40B4-BE49-F238E27FC236}">
                <a16:creationId xmlns:a16="http://schemas.microsoft.com/office/drawing/2014/main" id="{04979A22-C8E0-FFFA-9852-DCCD10627B77}"/>
              </a:ext>
            </a:extLst>
          </p:cNvPr>
          <p:cNvSpPr/>
          <p:nvPr/>
        </p:nvSpPr>
        <p:spPr>
          <a:xfrm>
            <a:off x="5499" y="-17775"/>
            <a:ext cx="3520625" cy="5161200"/>
          </a:xfrm>
          <a:prstGeom prst="rect">
            <a:avLst/>
          </a:prstGeom>
          <a:solidFill>
            <a:srgbClr val="C3FFF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a:extLst>
              <a:ext uri="{FF2B5EF4-FFF2-40B4-BE49-F238E27FC236}">
                <a16:creationId xmlns:a16="http://schemas.microsoft.com/office/drawing/2014/main" id="{2AECFF55-D3E0-E752-1051-22457DE80FFD}"/>
              </a:ext>
            </a:extLst>
          </p:cNvPr>
          <p:cNvSpPr txBox="1">
            <a:spLocks noGrp="1"/>
          </p:cNvSpPr>
          <p:nvPr>
            <p:ph type="title"/>
          </p:nvPr>
        </p:nvSpPr>
        <p:spPr>
          <a:xfrm>
            <a:off x="438808" y="967077"/>
            <a:ext cx="2988031" cy="3774288"/>
          </a:xfrm>
          <a:prstGeom prst="rect">
            <a:avLst/>
          </a:prstGeom>
          <a:noFill/>
          <a:ln>
            <a:noFill/>
          </a:ln>
        </p:spPr>
        <p:txBody>
          <a:bodyPr spcFirstLastPara="1" wrap="square" lIns="91425" tIns="91425" rIns="91425" bIns="91425" anchor="t" anchorCtr="0">
            <a:noAutofit/>
          </a:bodyPr>
          <a:lstStyle/>
          <a:p>
            <a:r>
              <a:rPr lang="fr-FR" b="1" dirty="0"/>
              <a:t>Neural Network </a:t>
            </a:r>
            <a:r>
              <a:rPr lang="fr-FR" b="1" dirty="0" err="1"/>
              <a:t>Models</a:t>
            </a:r>
            <a:r>
              <a:rPr lang="fr-FR" b="1" dirty="0"/>
              <a:t> Architecture</a:t>
            </a:r>
            <a:br>
              <a:rPr lang="fr-FR" dirty="0"/>
            </a:br>
            <a:br>
              <a:rPr lang="en-US" dirty="0"/>
            </a:br>
            <a:r>
              <a:rPr lang="en-US" sz="2000" dirty="0"/>
              <a:t>- 2 lean feed-forward neural networks for efficient binary classification</a:t>
            </a:r>
            <a:br>
              <a:rPr lang="fr-FR" b="1" dirty="0"/>
            </a:br>
            <a:br>
              <a:rPr lang="fr" sz="2400" dirty="0">
                <a:solidFill>
                  <a:srgbClr val="015955"/>
                </a:solidFill>
                <a:latin typeface="Inter"/>
                <a:ea typeface="Inter"/>
                <a:cs typeface="Inter"/>
                <a:sym typeface="Inter"/>
              </a:rPr>
            </a:br>
            <a:br>
              <a:rPr lang="fr" sz="2400" dirty="0">
                <a:solidFill>
                  <a:srgbClr val="015955"/>
                </a:solidFill>
                <a:latin typeface="Inter"/>
                <a:ea typeface="Inter"/>
                <a:cs typeface="Inter"/>
                <a:sym typeface="Inter"/>
              </a:rPr>
            </a:br>
            <a:endParaRPr sz="2400" dirty="0">
              <a:solidFill>
                <a:srgbClr val="015955"/>
              </a:solidFill>
              <a:latin typeface="Inter"/>
              <a:ea typeface="Inter"/>
              <a:cs typeface="Inter"/>
              <a:sym typeface="Inter"/>
            </a:endParaRPr>
          </a:p>
        </p:txBody>
      </p:sp>
      <p:pic>
        <p:nvPicPr>
          <p:cNvPr id="83" name="Google Shape;83;p16">
            <a:extLst>
              <a:ext uri="{FF2B5EF4-FFF2-40B4-BE49-F238E27FC236}">
                <a16:creationId xmlns:a16="http://schemas.microsoft.com/office/drawing/2014/main" id="{8C51FDFF-64D4-7826-EACF-38E4037EB7A9}"/>
              </a:ext>
            </a:extLst>
          </p:cNvPr>
          <p:cNvPicPr preferRelativeResize="0"/>
          <p:nvPr/>
        </p:nvPicPr>
        <p:blipFill rotWithShape="1">
          <a:blip r:embed="rId3">
            <a:alphaModFix/>
          </a:blip>
          <a:srcRect/>
          <a:stretch/>
        </p:blipFill>
        <p:spPr>
          <a:xfrm>
            <a:off x="463375" y="482852"/>
            <a:ext cx="576900" cy="385904"/>
          </a:xfrm>
          <a:prstGeom prst="rect">
            <a:avLst/>
          </a:prstGeom>
          <a:noFill/>
          <a:ln>
            <a:noFill/>
          </a:ln>
        </p:spPr>
      </p:pic>
      <p:sp>
        <p:nvSpPr>
          <p:cNvPr id="84" name="Google Shape;84;p16">
            <a:extLst>
              <a:ext uri="{FF2B5EF4-FFF2-40B4-BE49-F238E27FC236}">
                <a16:creationId xmlns:a16="http://schemas.microsoft.com/office/drawing/2014/main" id="{F5F910D5-3B49-70D5-2E53-E96797673320}"/>
              </a:ext>
            </a:extLst>
          </p:cNvPr>
          <p:cNvSpPr txBox="1">
            <a:spLocks noGrp="1"/>
          </p:cNvSpPr>
          <p:nvPr>
            <p:ph type="ctrTitle" idx="4294967295"/>
          </p:nvPr>
        </p:nvSpPr>
        <p:spPr>
          <a:xfrm>
            <a:off x="3588119" y="579248"/>
            <a:ext cx="5455142" cy="4062493"/>
          </a:xfrm>
          <a:prstGeom prst="rect">
            <a:avLst/>
          </a:prstGeom>
          <a:noFill/>
          <a:ln>
            <a:noFill/>
          </a:ln>
        </p:spPr>
        <p:txBody>
          <a:bodyPr spcFirstLastPara="1" wrap="square" lIns="91425" tIns="91425" rIns="91425" bIns="91425" anchor="t" anchorCtr="0">
            <a:noAutofit/>
          </a:bodyPr>
          <a:lstStyle/>
          <a:p>
            <a:r>
              <a:rPr lang="en-US" sz="1600" b="1" dirty="0"/>
              <a:t>Key Design Choices:</a:t>
            </a:r>
            <a:br>
              <a:rPr lang="en-US" sz="1600" dirty="0"/>
            </a:br>
            <a:br>
              <a:rPr lang="en-US" sz="1600" dirty="0"/>
            </a:br>
            <a:r>
              <a:rPr lang="en-US" sz="1600" b="1" dirty="0"/>
              <a:t>Input Layer</a:t>
            </a:r>
            <a:r>
              <a:rPr lang="en-US" sz="1600" dirty="0"/>
              <a:t>: 392 features (384 from Sentence Transformers + 8 engineered features).</a:t>
            </a:r>
            <a:br>
              <a:rPr lang="en-US" sz="1600" dirty="0"/>
            </a:br>
            <a:br>
              <a:rPr lang="en-US" sz="1600" dirty="0"/>
            </a:br>
            <a:r>
              <a:rPr lang="en-US" sz="1600" b="1" dirty="0"/>
              <a:t>Output Layer</a:t>
            </a:r>
            <a:r>
              <a:rPr lang="en-US" sz="1600" dirty="0"/>
              <a:t>: Single neuron with sigmoid activation for binary classification (spam/ham).</a:t>
            </a:r>
            <a:br>
              <a:rPr lang="en-US" sz="1600" dirty="0"/>
            </a:br>
            <a:br>
              <a:rPr lang="en-US" sz="1600" dirty="0"/>
            </a:br>
            <a:r>
              <a:rPr lang="en-US" sz="1600" b="1" dirty="0"/>
              <a:t>Activation</a:t>
            </a:r>
            <a:r>
              <a:rPr lang="en-US" sz="1600" dirty="0"/>
              <a:t>: </a:t>
            </a:r>
            <a:r>
              <a:rPr lang="en-US" sz="1600" dirty="0" err="1"/>
              <a:t>ReLU</a:t>
            </a:r>
            <a:r>
              <a:rPr lang="en-US" sz="1600" dirty="0"/>
              <a:t> for non-linearity in hidden layers.</a:t>
            </a:r>
            <a:br>
              <a:rPr lang="en-US" sz="1600" dirty="0"/>
            </a:br>
            <a:br>
              <a:rPr lang="en-US" sz="1600" dirty="0"/>
            </a:br>
            <a:r>
              <a:rPr lang="en-US" sz="1600" b="1" dirty="0"/>
              <a:t>Dropout</a:t>
            </a:r>
            <a:r>
              <a:rPr lang="en-US" sz="1600" dirty="0"/>
              <a:t>: Included to prevent overfitting, especially with a relatively small dataset.</a:t>
            </a:r>
            <a:br>
              <a:rPr lang="en-US" sz="1600" dirty="0"/>
            </a:br>
            <a:br>
              <a:rPr lang="en-US" sz="1600" dirty="0"/>
            </a:br>
            <a:r>
              <a:rPr lang="en-US" sz="1600" b="1" dirty="0"/>
              <a:t>Efficiency</a:t>
            </a:r>
            <a:r>
              <a:rPr lang="en-US" sz="1600" dirty="0"/>
              <a:t>: Both models prioritize lean architectures to balance performance with computational resources, making them suitable for rapid deployment.</a:t>
            </a:r>
            <a:br>
              <a:rPr lang="en-US" dirty="0"/>
            </a:br>
            <a:br>
              <a:rPr lang="fr-FR" dirty="0"/>
            </a:br>
            <a:br>
              <a:rPr lang="en-US" dirty="0"/>
            </a:br>
            <a:br>
              <a:rPr lang="en-US" sz="1600" dirty="0"/>
            </a:br>
            <a:br>
              <a:rPr lang="en-US" dirty="0"/>
            </a:br>
            <a:br>
              <a:rPr lang="fr-FR" sz="1600" dirty="0"/>
            </a:br>
            <a:br>
              <a:rPr lang="fr-FR" dirty="0"/>
            </a:br>
            <a:endParaRPr lang="en-US" sz="1600" dirty="0"/>
          </a:p>
        </p:txBody>
      </p:sp>
    </p:spTree>
    <p:extLst>
      <p:ext uri="{BB962C8B-B14F-4D97-AF65-F5344CB8AC3E}">
        <p14:creationId xmlns:p14="http://schemas.microsoft.com/office/powerpoint/2010/main" val="25641396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0">
          <a:extLst>
            <a:ext uri="{FF2B5EF4-FFF2-40B4-BE49-F238E27FC236}">
              <a16:creationId xmlns:a16="http://schemas.microsoft.com/office/drawing/2014/main" id="{520ADF24-A96D-5542-D7AA-9FAB09665FE6}"/>
            </a:ext>
          </a:extLst>
        </p:cNvPr>
        <p:cNvGrpSpPr/>
        <p:nvPr/>
      </p:nvGrpSpPr>
      <p:grpSpPr>
        <a:xfrm>
          <a:off x="0" y="0"/>
          <a:ext cx="0" cy="0"/>
          <a:chOff x="0" y="0"/>
          <a:chExt cx="0" cy="0"/>
        </a:xfrm>
      </p:grpSpPr>
      <p:sp>
        <p:nvSpPr>
          <p:cNvPr id="81" name="Google Shape;81;p16">
            <a:extLst>
              <a:ext uri="{FF2B5EF4-FFF2-40B4-BE49-F238E27FC236}">
                <a16:creationId xmlns:a16="http://schemas.microsoft.com/office/drawing/2014/main" id="{6C15E693-D567-8947-2500-19E39B53C9EF}"/>
              </a:ext>
            </a:extLst>
          </p:cNvPr>
          <p:cNvSpPr/>
          <p:nvPr/>
        </p:nvSpPr>
        <p:spPr>
          <a:xfrm>
            <a:off x="5499" y="-17775"/>
            <a:ext cx="3520625" cy="5161200"/>
          </a:xfrm>
          <a:prstGeom prst="rect">
            <a:avLst/>
          </a:prstGeom>
          <a:solidFill>
            <a:srgbClr val="C3FFF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a:extLst>
              <a:ext uri="{FF2B5EF4-FFF2-40B4-BE49-F238E27FC236}">
                <a16:creationId xmlns:a16="http://schemas.microsoft.com/office/drawing/2014/main" id="{5A8CD565-7FB9-F6BA-5DFF-426B16E9B1F1}"/>
              </a:ext>
            </a:extLst>
          </p:cNvPr>
          <p:cNvSpPr txBox="1">
            <a:spLocks noGrp="1"/>
          </p:cNvSpPr>
          <p:nvPr>
            <p:ph type="title"/>
          </p:nvPr>
        </p:nvSpPr>
        <p:spPr>
          <a:xfrm>
            <a:off x="438808" y="967077"/>
            <a:ext cx="2988031" cy="3774288"/>
          </a:xfrm>
          <a:prstGeom prst="rect">
            <a:avLst/>
          </a:prstGeom>
          <a:noFill/>
          <a:ln>
            <a:noFill/>
          </a:ln>
        </p:spPr>
        <p:txBody>
          <a:bodyPr spcFirstLastPara="1" wrap="square" lIns="91425" tIns="91425" rIns="91425" bIns="91425" anchor="t" anchorCtr="0">
            <a:noAutofit/>
          </a:bodyPr>
          <a:lstStyle/>
          <a:p>
            <a:r>
              <a:rPr lang="en-US" b="1" dirty="0"/>
              <a:t>Training Process and Class Weighting</a:t>
            </a:r>
            <a:br>
              <a:rPr lang="en-US" dirty="0"/>
            </a:br>
            <a:br>
              <a:rPr lang="fr-FR" dirty="0"/>
            </a:br>
            <a:br>
              <a:rPr lang="en-US" dirty="0"/>
            </a:br>
            <a:r>
              <a:rPr lang="en-US" sz="2000" dirty="0"/>
              <a:t>- </a:t>
            </a:r>
            <a:r>
              <a:rPr lang="fr-FR" dirty="0"/>
              <a:t>Key Aspects of Training</a:t>
            </a:r>
            <a:br>
              <a:rPr lang="fr-FR" dirty="0"/>
            </a:br>
            <a:br>
              <a:rPr lang="fr-FR" b="1" dirty="0"/>
            </a:br>
            <a:br>
              <a:rPr lang="fr" sz="2400" dirty="0">
                <a:solidFill>
                  <a:srgbClr val="015955"/>
                </a:solidFill>
                <a:latin typeface="Inter"/>
                <a:ea typeface="Inter"/>
                <a:cs typeface="Inter"/>
                <a:sym typeface="Inter"/>
              </a:rPr>
            </a:br>
            <a:br>
              <a:rPr lang="fr" sz="2400" dirty="0">
                <a:solidFill>
                  <a:srgbClr val="015955"/>
                </a:solidFill>
                <a:latin typeface="Inter"/>
                <a:ea typeface="Inter"/>
                <a:cs typeface="Inter"/>
                <a:sym typeface="Inter"/>
              </a:rPr>
            </a:br>
            <a:endParaRPr sz="2400" dirty="0">
              <a:solidFill>
                <a:srgbClr val="015955"/>
              </a:solidFill>
              <a:latin typeface="Inter"/>
              <a:ea typeface="Inter"/>
              <a:cs typeface="Inter"/>
              <a:sym typeface="Inter"/>
            </a:endParaRPr>
          </a:p>
        </p:txBody>
      </p:sp>
      <p:pic>
        <p:nvPicPr>
          <p:cNvPr id="83" name="Google Shape;83;p16">
            <a:extLst>
              <a:ext uri="{FF2B5EF4-FFF2-40B4-BE49-F238E27FC236}">
                <a16:creationId xmlns:a16="http://schemas.microsoft.com/office/drawing/2014/main" id="{18DA176D-56A9-4569-D271-7173AA3F0E30}"/>
              </a:ext>
            </a:extLst>
          </p:cNvPr>
          <p:cNvPicPr preferRelativeResize="0"/>
          <p:nvPr/>
        </p:nvPicPr>
        <p:blipFill rotWithShape="1">
          <a:blip r:embed="rId3">
            <a:alphaModFix/>
          </a:blip>
          <a:srcRect/>
          <a:stretch/>
        </p:blipFill>
        <p:spPr>
          <a:xfrm>
            <a:off x="463375" y="482852"/>
            <a:ext cx="576900" cy="385904"/>
          </a:xfrm>
          <a:prstGeom prst="rect">
            <a:avLst/>
          </a:prstGeom>
          <a:noFill/>
          <a:ln>
            <a:noFill/>
          </a:ln>
        </p:spPr>
      </p:pic>
      <p:sp>
        <p:nvSpPr>
          <p:cNvPr id="84" name="Google Shape;84;p16">
            <a:extLst>
              <a:ext uri="{FF2B5EF4-FFF2-40B4-BE49-F238E27FC236}">
                <a16:creationId xmlns:a16="http://schemas.microsoft.com/office/drawing/2014/main" id="{F9D673B3-3E77-045F-8415-0441C81C90B2}"/>
              </a:ext>
            </a:extLst>
          </p:cNvPr>
          <p:cNvSpPr txBox="1">
            <a:spLocks noGrp="1"/>
          </p:cNvSpPr>
          <p:nvPr>
            <p:ph type="ctrTitle" idx="4294967295"/>
          </p:nvPr>
        </p:nvSpPr>
        <p:spPr>
          <a:xfrm>
            <a:off x="3588119" y="579248"/>
            <a:ext cx="5455142" cy="4488698"/>
          </a:xfrm>
          <a:prstGeom prst="rect">
            <a:avLst/>
          </a:prstGeom>
          <a:noFill/>
          <a:ln>
            <a:noFill/>
          </a:ln>
        </p:spPr>
        <p:txBody>
          <a:bodyPr spcFirstLastPara="1" wrap="square" lIns="91425" tIns="91425" rIns="91425" bIns="91425" anchor="t" anchorCtr="0">
            <a:noAutofit/>
          </a:bodyPr>
          <a:lstStyle/>
          <a:p>
            <a:r>
              <a:rPr lang="en-US" sz="1400" b="1" dirty="0"/>
              <a:t>Device Utilization: </a:t>
            </a:r>
            <a:r>
              <a:rPr lang="en-US" sz="1400" dirty="0"/>
              <a:t>use of </a:t>
            </a:r>
            <a:r>
              <a:rPr lang="en-US" sz="1400" dirty="0" err="1"/>
              <a:t>cuda</a:t>
            </a:r>
            <a:r>
              <a:rPr lang="en-US" sz="1400" dirty="0"/>
              <a:t> (GPU) device for accelerated training.</a:t>
            </a:r>
            <a:br>
              <a:rPr lang="en-US" sz="1400" dirty="0"/>
            </a:br>
            <a:br>
              <a:rPr lang="en-US" sz="1400" dirty="0"/>
            </a:br>
            <a:r>
              <a:rPr lang="en-US" sz="1400" b="1" dirty="0"/>
              <a:t>Weighted Loss Function: </a:t>
            </a:r>
            <a:r>
              <a:rPr lang="en-US" sz="1400" dirty="0"/>
              <a:t>crucial for handling the significant class imbalance.</a:t>
            </a:r>
            <a:br>
              <a:rPr lang="en-US" sz="1400" dirty="0"/>
            </a:br>
            <a:br>
              <a:rPr lang="en-US" sz="1400" b="1" dirty="0"/>
            </a:br>
            <a:r>
              <a:rPr lang="en-US" sz="1400" b="1" dirty="0"/>
              <a:t>Optimizer: The </a:t>
            </a:r>
            <a:r>
              <a:rPr lang="en-US" sz="1400" dirty="0"/>
              <a:t>Adam optimizer was employed with a learning rate of 0.001 and </a:t>
            </a:r>
            <a:r>
              <a:rPr lang="en-US" sz="1400" dirty="0" err="1"/>
              <a:t>weight_decay</a:t>
            </a:r>
            <a:r>
              <a:rPr lang="en-US" sz="1400" dirty="0"/>
              <a:t>=1e-5 to prevent overfitting.</a:t>
            </a:r>
            <a:br>
              <a:rPr lang="en-US" sz="1400" dirty="0"/>
            </a:br>
            <a:br>
              <a:rPr lang="en-US" sz="1400" dirty="0"/>
            </a:br>
            <a:r>
              <a:rPr lang="en-US" sz="1400" b="1" dirty="0"/>
              <a:t>Training Loop: </a:t>
            </a:r>
            <a:r>
              <a:rPr lang="en-US" sz="1400" dirty="0"/>
              <a:t>each epoch involved iterating through the </a:t>
            </a:r>
            <a:r>
              <a:rPr lang="en-US" sz="1400" dirty="0" err="1"/>
              <a:t>train_loader</a:t>
            </a:r>
            <a:r>
              <a:rPr lang="en-US" sz="1400" dirty="0"/>
              <a:t>, performing forward pass, calculating the weighted loss, backpropagating gradients, and updating model parameters.</a:t>
            </a:r>
            <a:br>
              <a:rPr lang="en-US" sz="1400" dirty="0"/>
            </a:br>
            <a:br>
              <a:rPr lang="en-US" sz="1400" dirty="0"/>
            </a:br>
            <a:r>
              <a:rPr lang="en-US" sz="1400" b="1" dirty="0"/>
              <a:t>Validation Loop: </a:t>
            </a:r>
            <a:r>
              <a:rPr lang="en-US" sz="1400" dirty="0"/>
              <a:t>after each epoch, the model was evaluated on the </a:t>
            </a:r>
            <a:r>
              <a:rPr lang="en-US" sz="1400" dirty="0" err="1"/>
              <a:t>test_loader</a:t>
            </a:r>
            <a:r>
              <a:rPr lang="en-US" sz="1400" dirty="0"/>
              <a:t> to monitor performance on unseen data.</a:t>
            </a:r>
            <a:br>
              <a:rPr lang="en-US" sz="1400" dirty="0"/>
            </a:br>
            <a:br>
              <a:rPr lang="en-US" sz="1400" dirty="0"/>
            </a:br>
            <a:r>
              <a:rPr lang="en-US" sz="1400" dirty="0"/>
              <a:t>Metrics like accuracy and AUC score were calculated to assess generalization ability.</a:t>
            </a:r>
            <a:br>
              <a:rPr lang="en-US" dirty="0"/>
            </a:br>
            <a:br>
              <a:rPr lang="fr-FR" dirty="0"/>
            </a:br>
            <a:br>
              <a:rPr lang="en-US" dirty="0"/>
            </a:br>
            <a:br>
              <a:rPr lang="en-US" sz="1600" dirty="0"/>
            </a:br>
            <a:br>
              <a:rPr lang="en-US" dirty="0"/>
            </a:br>
            <a:br>
              <a:rPr lang="fr-FR" sz="1600" dirty="0"/>
            </a:br>
            <a:br>
              <a:rPr lang="fr-FR" dirty="0"/>
            </a:br>
            <a:endParaRPr lang="en-US" sz="1600" dirty="0"/>
          </a:p>
        </p:txBody>
      </p:sp>
    </p:spTree>
    <p:extLst>
      <p:ext uri="{BB962C8B-B14F-4D97-AF65-F5344CB8AC3E}">
        <p14:creationId xmlns:p14="http://schemas.microsoft.com/office/powerpoint/2010/main" val="160122861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80">
          <a:extLst>
            <a:ext uri="{FF2B5EF4-FFF2-40B4-BE49-F238E27FC236}">
              <a16:creationId xmlns:a16="http://schemas.microsoft.com/office/drawing/2014/main" id="{ED642B1F-86B2-60A5-451B-100199CED629}"/>
            </a:ext>
          </a:extLst>
        </p:cNvPr>
        <p:cNvGrpSpPr/>
        <p:nvPr/>
      </p:nvGrpSpPr>
      <p:grpSpPr>
        <a:xfrm>
          <a:off x="0" y="0"/>
          <a:ext cx="0" cy="0"/>
          <a:chOff x="0" y="0"/>
          <a:chExt cx="0" cy="0"/>
        </a:xfrm>
      </p:grpSpPr>
      <p:sp>
        <p:nvSpPr>
          <p:cNvPr id="81" name="Google Shape;81;p16">
            <a:extLst>
              <a:ext uri="{FF2B5EF4-FFF2-40B4-BE49-F238E27FC236}">
                <a16:creationId xmlns:a16="http://schemas.microsoft.com/office/drawing/2014/main" id="{66300018-435D-F945-6779-2C2631A5C23F}"/>
              </a:ext>
            </a:extLst>
          </p:cNvPr>
          <p:cNvSpPr/>
          <p:nvPr/>
        </p:nvSpPr>
        <p:spPr>
          <a:xfrm>
            <a:off x="5499" y="-17775"/>
            <a:ext cx="3520625" cy="5161200"/>
          </a:xfrm>
          <a:prstGeom prst="rect">
            <a:avLst/>
          </a:prstGeom>
          <a:solidFill>
            <a:srgbClr val="C3FFF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a:extLst>
              <a:ext uri="{FF2B5EF4-FFF2-40B4-BE49-F238E27FC236}">
                <a16:creationId xmlns:a16="http://schemas.microsoft.com/office/drawing/2014/main" id="{D4136558-C25D-9E12-F881-F17613D060B8}"/>
              </a:ext>
            </a:extLst>
          </p:cNvPr>
          <p:cNvSpPr txBox="1">
            <a:spLocks noGrp="1"/>
          </p:cNvSpPr>
          <p:nvPr>
            <p:ph type="title"/>
          </p:nvPr>
        </p:nvSpPr>
        <p:spPr>
          <a:xfrm>
            <a:off x="438808" y="967077"/>
            <a:ext cx="2988031" cy="3774288"/>
          </a:xfrm>
          <a:prstGeom prst="rect">
            <a:avLst/>
          </a:prstGeom>
          <a:noFill/>
          <a:ln>
            <a:noFill/>
          </a:ln>
        </p:spPr>
        <p:txBody>
          <a:bodyPr spcFirstLastPara="1" wrap="square" lIns="91425" tIns="91425" rIns="91425" bIns="91425" anchor="t" anchorCtr="0">
            <a:noAutofit/>
          </a:bodyPr>
          <a:lstStyle/>
          <a:p>
            <a:r>
              <a:rPr lang="fr-FR" b="1" dirty="0"/>
              <a:t>Model Evaluation and </a:t>
            </a:r>
            <a:r>
              <a:rPr lang="fr-FR" b="1" dirty="0" err="1"/>
              <a:t>Comparison</a:t>
            </a:r>
            <a:br>
              <a:rPr lang="fr-FR" dirty="0"/>
            </a:br>
            <a:br>
              <a:rPr lang="en-US" dirty="0"/>
            </a:br>
            <a:br>
              <a:rPr lang="fr-FR" dirty="0"/>
            </a:br>
            <a:br>
              <a:rPr lang="en-US" dirty="0"/>
            </a:br>
            <a:r>
              <a:rPr lang="en-US" sz="2000" dirty="0"/>
              <a:t>- </a:t>
            </a:r>
            <a:r>
              <a:rPr lang="fr-FR" dirty="0"/>
              <a:t>Model </a:t>
            </a:r>
            <a:r>
              <a:rPr lang="fr-FR" dirty="0" err="1"/>
              <a:t>Selection</a:t>
            </a:r>
            <a:br>
              <a:rPr lang="fr-FR" dirty="0"/>
            </a:br>
            <a:br>
              <a:rPr lang="fr-FR" b="1" dirty="0"/>
            </a:br>
            <a:br>
              <a:rPr lang="fr" sz="2400" dirty="0">
                <a:solidFill>
                  <a:srgbClr val="015955"/>
                </a:solidFill>
                <a:latin typeface="Inter"/>
                <a:ea typeface="Inter"/>
                <a:cs typeface="Inter"/>
                <a:sym typeface="Inter"/>
              </a:rPr>
            </a:br>
            <a:br>
              <a:rPr lang="fr" sz="2400" dirty="0">
                <a:solidFill>
                  <a:srgbClr val="015955"/>
                </a:solidFill>
                <a:latin typeface="Inter"/>
                <a:ea typeface="Inter"/>
                <a:cs typeface="Inter"/>
                <a:sym typeface="Inter"/>
              </a:rPr>
            </a:br>
            <a:endParaRPr sz="2400" dirty="0">
              <a:solidFill>
                <a:srgbClr val="015955"/>
              </a:solidFill>
              <a:latin typeface="Inter"/>
              <a:ea typeface="Inter"/>
              <a:cs typeface="Inter"/>
              <a:sym typeface="Inter"/>
            </a:endParaRPr>
          </a:p>
        </p:txBody>
      </p:sp>
      <p:pic>
        <p:nvPicPr>
          <p:cNvPr id="83" name="Google Shape;83;p16">
            <a:extLst>
              <a:ext uri="{FF2B5EF4-FFF2-40B4-BE49-F238E27FC236}">
                <a16:creationId xmlns:a16="http://schemas.microsoft.com/office/drawing/2014/main" id="{043A57F9-4A1F-D430-FEA6-30310DBE76BE}"/>
              </a:ext>
            </a:extLst>
          </p:cNvPr>
          <p:cNvPicPr preferRelativeResize="0"/>
          <p:nvPr/>
        </p:nvPicPr>
        <p:blipFill rotWithShape="1">
          <a:blip r:embed="rId3">
            <a:alphaModFix/>
          </a:blip>
          <a:srcRect/>
          <a:stretch/>
        </p:blipFill>
        <p:spPr>
          <a:xfrm>
            <a:off x="463375" y="482852"/>
            <a:ext cx="576900" cy="385904"/>
          </a:xfrm>
          <a:prstGeom prst="rect">
            <a:avLst/>
          </a:prstGeom>
          <a:noFill/>
          <a:ln>
            <a:noFill/>
          </a:ln>
        </p:spPr>
      </p:pic>
      <p:sp>
        <p:nvSpPr>
          <p:cNvPr id="84" name="Google Shape;84;p16">
            <a:extLst>
              <a:ext uri="{FF2B5EF4-FFF2-40B4-BE49-F238E27FC236}">
                <a16:creationId xmlns:a16="http://schemas.microsoft.com/office/drawing/2014/main" id="{184E04A7-6DCB-FAF8-0D66-F4C55D80D0DE}"/>
              </a:ext>
            </a:extLst>
          </p:cNvPr>
          <p:cNvSpPr txBox="1">
            <a:spLocks noGrp="1"/>
          </p:cNvSpPr>
          <p:nvPr>
            <p:ph type="ctrTitle" idx="4294967295"/>
          </p:nvPr>
        </p:nvSpPr>
        <p:spPr>
          <a:xfrm>
            <a:off x="3588119" y="579248"/>
            <a:ext cx="5455142" cy="4488698"/>
          </a:xfrm>
          <a:prstGeom prst="rect">
            <a:avLst/>
          </a:prstGeom>
          <a:noFill/>
          <a:ln>
            <a:noFill/>
          </a:ln>
        </p:spPr>
        <p:txBody>
          <a:bodyPr spcFirstLastPara="1" wrap="square" lIns="91425" tIns="91425" rIns="91425" bIns="91425" anchor="t" anchorCtr="0">
            <a:noAutofit/>
          </a:bodyPr>
          <a:lstStyle/>
          <a:p>
            <a:r>
              <a:rPr lang="en-US" sz="1400" b="1" dirty="0"/>
              <a:t>The Ultra-Simple NN</a:t>
            </a:r>
            <a:br>
              <a:rPr lang="en-US" sz="1400" b="1" dirty="0"/>
            </a:br>
            <a:br>
              <a:rPr lang="en-US" sz="1400" b="1" dirty="0"/>
            </a:br>
            <a:r>
              <a:rPr lang="en-US" sz="1400" dirty="0"/>
              <a:t>Given the comparable and highly effective performance of both models, the Ultra-Simple Neural Network was selected as the preferred model for deployment due to its significantly lower parameter count (approximately half of the Simple NN)</a:t>
            </a:r>
            <a:br>
              <a:rPr lang="en-US" sz="1400" dirty="0"/>
            </a:br>
            <a:br>
              <a:rPr lang="en-US" sz="1400" dirty="0"/>
            </a:br>
            <a:br>
              <a:rPr lang="en-US" sz="1600" dirty="0"/>
            </a:br>
            <a:br>
              <a:rPr lang="en-US" dirty="0"/>
            </a:br>
            <a:br>
              <a:rPr lang="fr-FR" sz="1600" dirty="0"/>
            </a:br>
            <a:br>
              <a:rPr lang="fr-FR" dirty="0"/>
            </a:br>
            <a:endParaRPr lang="en-US" sz="1600" dirty="0"/>
          </a:p>
        </p:txBody>
      </p:sp>
      <p:pic>
        <p:nvPicPr>
          <p:cNvPr id="8194" name="Picture 2">
            <a:extLst>
              <a:ext uri="{FF2B5EF4-FFF2-40B4-BE49-F238E27FC236}">
                <a16:creationId xmlns:a16="http://schemas.microsoft.com/office/drawing/2014/main" id="{57C33E33-85E2-39F6-5A65-B1BB84DD02E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85282" y="2221038"/>
            <a:ext cx="3628924" cy="24118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0789080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80">
          <a:extLst>
            <a:ext uri="{FF2B5EF4-FFF2-40B4-BE49-F238E27FC236}">
              <a16:creationId xmlns:a16="http://schemas.microsoft.com/office/drawing/2014/main" id="{C32A60FE-CE44-2D5D-F927-68E8F986E124}"/>
            </a:ext>
          </a:extLst>
        </p:cNvPr>
        <p:cNvGrpSpPr/>
        <p:nvPr/>
      </p:nvGrpSpPr>
      <p:grpSpPr>
        <a:xfrm>
          <a:off x="0" y="0"/>
          <a:ext cx="0" cy="0"/>
          <a:chOff x="0" y="0"/>
          <a:chExt cx="0" cy="0"/>
        </a:xfrm>
      </p:grpSpPr>
      <p:sp>
        <p:nvSpPr>
          <p:cNvPr id="81" name="Google Shape;81;p16">
            <a:extLst>
              <a:ext uri="{FF2B5EF4-FFF2-40B4-BE49-F238E27FC236}">
                <a16:creationId xmlns:a16="http://schemas.microsoft.com/office/drawing/2014/main" id="{AEB06251-4C00-E127-1784-CB2CFBF0F74A}"/>
              </a:ext>
            </a:extLst>
          </p:cNvPr>
          <p:cNvSpPr/>
          <p:nvPr/>
        </p:nvSpPr>
        <p:spPr>
          <a:xfrm>
            <a:off x="0" y="0"/>
            <a:ext cx="3394128" cy="5161200"/>
          </a:xfrm>
          <a:prstGeom prst="rect">
            <a:avLst/>
          </a:prstGeom>
          <a:solidFill>
            <a:srgbClr val="C3FFF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a:extLst>
              <a:ext uri="{FF2B5EF4-FFF2-40B4-BE49-F238E27FC236}">
                <a16:creationId xmlns:a16="http://schemas.microsoft.com/office/drawing/2014/main" id="{EDAB21DF-DBB6-1D1D-7F45-E7FB4B302EE8}"/>
              </a:ext>
            </a:extLst>
          </p:cNvPr>
          <p:cNvSpPr txBox="1">
            <a:spLocks noGrp="1"/>
          </p:cNvSpPr>
          <p:nvPr>
            <p:ph type="title"/>
          </p:nvPr>
        </p:nvSpPr>
        <p:spPr>
          <a:xfrm>
            <a:off x="406097" y="1030187"/>
            <a:ext cx="2988031" cy="3458100"/>
          </a:xfrm>
          <a:prstGeom prst="rect">
            <a:avLst/>
          </a:prstGeom>
          <a:noFill/>
          <a:ln>
            <a:noFill/>
          </a:ln>
        </p:spPr>
        <p:txBody>
          <a:bodyPr spcFirstLastPara="1" wrap="square" lIns="91425" tIns="91425" rIns="91425" bIns="91425" anchor="t" anchorCtr="0">
            <a:noAutofit/>
          </a:bodyPr>
          <a:lstStyle/>
          <a:p>
            <a:r>
              <a:rPr lang="fr-FR" b="1" dirty="0" err="1"/>
              <a:t>Prediction</a:t>
            </a:r>
            <a:r>
              <a:rPr lang="fr-FR" b="1" dirty="0"/>
              <a:t> </a:t>
            </a:r>
            <a:r>
              <a:rPr lang="fr-FR" b="1" dirty="0" err="1"/>
              <a:t>Demo</a:t>
            </a:r>
            <a:r>
              <a:rPr lang="fr-FR" b="1" dirty="0"/>
              <a:t> on New Messages</a:t>
            </a:r>
            <a:br>
              <a:rPr lang="fr-FR" dirty="0"/>
            </a:br>
            <a:br>
              <a:rPr lang="fr-FR" sz="1600" dirty="0"/>
            </a:br>
            <a:br>
              <a:rPr lang="fr-FR" dirty="0"/>
            </a:br>
            <a:r>
              <a:rPr lang="fr" sz="2400" dirty="0">
                <a:solidFill>
                  <a:srgbClr val="015955"/>
                </a:solidFill>
                <a:latin typeface="Inter"/>
                <a:ea typeface="Inter"/>
                <a:cs typeface="Inter"/>
                <a:sym typeface="Inter"/>
              </a:rPr>
              <a:t> </a:t>
            </a:r>
            <a:endParaRPr sz="2400" dirty="0">
              <a:solidFill>
                <a:srgbClr val="015955"/>
              </a:solidFill>
              <a:latin typeface="Inter"/>
              <a:ea typeface="Inter"/>
              <a:cs typeface="Inter"/>
              <a:sym typeface="Inter"/>
            </a:endParaRPr>
          </a:p>
        </p:txBody>
      </p:sp>
      <p:pic>
        <p:nvPicPr>
          <p:cNvPr id="83" name="Google Shape;83;p16">
            <a:extLst>
              <a:ext uri="{FF2B5EF4-FFF2-40B4-BE49-F238E27FC236}">
                <a16:creationId xmlns:a16="http://schemas.microsoft.com/office/drawing/2014/main" id="{BCD40087-BD10-15D8-807B-1925094AEBF9}"/>
              </a:ext>
            </a:extLst>
          </p:cNvPr>
          <p:cNvPicPr preferRelativeResize="0"/>
          <p:nvPr/>
        </p:nvPicPr>
        <p:blipFill rotWithShape="1">
          <a:blip r:embed="rId3">
            <a:alphaModFix/>
          </a:blip>
          <a:srcRect/>
          <a:stretch/>
        </p:blipFill>
        <p:spPr>
          <a:xfrm>
            <a:off x="463375" y="482852"/>
            <a:ext cx="576900" cy="385904"/>
          </a:xfrm>
          <a:prstGeom prst="rect">
            <a:avLst/>
          </a:prstGeom>
          <a:noFill/>
          <a:ln>
            <a:noFill/>
          </a:ln>
        </p:spPr>
      </p:pic>
      <p:sp>
        <p:nvSpPr>
          <p:cNvPr id="84" name="Google Shape;84;p16">
            <a:extLst>
              <a:ext uri="{FF2B5EF4-FFF2-40B4-BE49-F238E27FC236}">
                <a16:creationId xmlns:a16="http://schemas.microsoft.com/office/drawing/2014/main" id="{1C97D40E-73C8-AA7E-992B-85A63F27D87C}"/>
              </a:ext>
            </a:extLst>
          </p:cNvPr>
          <p:cNvSpPr txBox="1">
            <a:spLocks noGrp="1"/>
          </p:cNvSpPr>
          <p:nvPr>
            <p:ph type="ctrTitle" idx="4294967295"/>
          </p:nvPr>
        </p:nvSpPr>
        <p:spPr>
          <a:xfrm>
            <a:off x="3394128" y="168994"/>
            <a:ext cx="5721196" cy="3944319"/>
          </a:xfrm>
          <a:prstGeom prst="rect">
            <a:avLst/>
          </a:prstGeom>
          <a:noFill/>
          <a:ln>
            <a:noFill/>
          </a:ln>
        </p:spPr>
        <p:txBody>
          <a:bodyPr spcFirstLastPara="1" wrap="square" lIns="91425" tIns="91425" rIns="91425" bIns="91425" anchor="t" anchorCtr="0">
            <a:noAutofit/>
          </a:bodyPr>
          <a:lstStyle/>
          <a:p>
            <a:r>
              <a:rPr lang="en-US" sz="1600" dirty="0"/>
              <a:t>Demonstration Highlights:</a:t>
            </a:r>
            <a:br>
              <a:rPr lang="en-US" sz="1600" dirty="0"/>
            </a:br>
            <a:r>
              <a:rPr lang="en-US" sz="1600" b="1" dirty="0"/>
              <a:t>Test Cases:</a:t>
            </a:r>
            <a:r>
              <a:rPr lang="en-US" sz="1600" dirty="0"/>
              <a:t> a set of example messages</a:t>
            </a:r>
            <a:br>
              <a:rPr lang="en-US" sz="1600" dirty="0"/>
            </a:br>
            <a:r>
              <a:rPr lang="en-US" sz="1600" b="1" dirty="0"/>
              <a:t>Prediction Pipeline: </a:t>
            </a:r>
            <a:r>
              <a:rPr lang="en-US" sz="1600" dirty="0"/>
              <a:t>Each message was processed through the complete pipeline:</a:t>
            </a:r>
            <a:br>
              <a:rPr lang="en-US" sz="1600" dirty="0"/>
            </a:br>
            <a:r>
              <a:rPr lang="en-US" sz="1600" dirty="0"/>
              <a:t> - Feature Engineering:</a:t>
            </a:r>
            <a:br>
              <a:rPr lang="en-US" sz="1600" dirty="0"/>
            </a:br>
            <a:r>
              <a:rPr lang="en-US" sz="1600" dirty="0"/>
              <a:t> - Sentence Embedding:</a:t>
            </a:r>
            <a:br>
              <a:rPr lang="en-US" sz="1600" dirty="0"/>
            </a:br>
            <a:r>
              <a:rPr lang="en-US" sz="1600" dirty="0"/>
              <a:t> - Feature Combination &amp; Scaling</a:t>
            </a:r>
            <a:br>
              <a:rPr lang="en-US" sz="1600" dirty="0"/>
            </a:br>
            <a:r>
              <a:rPr lang="en-US" sz="1600" dirty="0"/>
              <a:t> - Neural Network Inference:</a:t>
            </a:r>
            <a:br>
              <a:rPr lang="en-US" sz="1600" dirty="0"/>
            </a:br>
            <a:r>
              <a:rPr lang="en-US" sz="1600" b="1" dirty="0"/>
              <a:t>Output: </a:t>
            </a:r>
            <a:r>
              <a:rPr lang="en-US" sz="1600" dirty="0"/>
              <a:t>For each message, the model provided a clear 'HAM' or 'SPAM' prediction along with a confidence score (spam probability).</a:t>
            </a:r>
            <a:br>
              <a:rPr lang="en-US" sz="1600" dirty="0"/>
            </a:br>
            <a:br>
              <a:rPr lang="en-US" sz="1600" dirty="0"/>
            </a:br>
            <a:r>
              <a:rPr lang="en-US" sz="1600" dirty="0"/>
              <a:t>Example Predictions:</a:t>
            </a:r>
            <a:br>
              <a:rPr lang="en-US" sz="1600" dirty="0"/>
            </a:br>
            <a:br>
              <a:rPr lang="en-US" sz="1600" dirty="0"/>
            </a:br>
            <a:r>
              <a:rPr lang="en-US" sz="1400" b="1" dirty="0"/>
              <a:t>Message 1 (Ham)</a:t>
            </a:r>
            <a:r>
              <a:rPr lang="en-US" sz="1400" dirty="0"/>
              <a:t>: "Hey, are you free for dinner tonight?"</a:t>
            </a:r>
            <a:br>
              <a:rPr lang="en-US" sz="1400" dirty="0"/>
            </a:br>
            <a:r>
              <a:rPr lang="en-US" sz="1400" b="1" dirty="0"/>
              <a:t>Prediction</a:t>
            </a:r>
            <a:r>
              <a:rPr lang="en-US" sz="1400" dirty="0"/>
              <a:t>: HAM</a:t>
            </a:r>
            <a:br>
              <a:rPr lang="en-US" sz="1400" dirty="0"/>
            </a:br>
            <a:r>
              <a:rPr lang="en-US" sz="1400" b="1" dirty="0"/>
              <a:t>Confidence</a:t>
            </a:r>
            <a:r>
              <a:rPr lang="en-US" sz="1400" dirty="0"/>
              <a:t>: Very Low Spam Probability (e.g., 0.0%)</a:t>
            </a:r>
            <a:br>
              <a:rPr lang="en-US" sz="1400" dirty="0"/>
            </a:br>
            <a:r>
              <a:rPr lang="en-US" sz="1400" b="1" dirty="0"/>
              <a:t>Message 2 (Spam)</a:t>
            </a:r>
            <a:r>
              <a:rPr lang="en-US" sz="1400" dirty="0"/>
              <a:t>: "FREE! Win cash prizes now! Call 555-123-4567 to claim your reward!"</a:t>
            </a:r>
            <a:br>
              <a:rPr lang="en-US" sz="1400" dirty="0"/>
            </a:br>
            <a:r>
              <a:rPr lang="en-US" sz="1400" b="1" dirty="0"/>
              <a:t>Prediction</a:t>
            </a:r>
            <a:r>
              <a:rPr lang="en-US" sz="1400" dirty="0"/>
              <a:t>: SPAM</a:t>
            </a:r>
            <a:br>
              <a:rPr lang="en-US" sz="1400" dirty="0"/>
            </a:br>
            <a:r>
              <a:rPr lang="en-US" sz="1400" b="1" dirty="0"/>
              <a:t>Confidence</a:t>
            </a:r>
            <a:r>
              <a:rPr lang="en-US" sz="1400" dirty="0"/>
              <a:t>: Very High Spam Probability (e.g., 100.0%)</a:t>
            </a:r>
            <a:br>
              <a:rPr lang="en-US" dirty="0"/>
            </a:br>
            <a:br>
              <a:rPr lang="en-US" sz="1800" dirty="0"/>
            </a:br>
            <a:br>
              <a:rPr lang="en-US" dirty="0"/>
            </a:br>
            <a:br>
              <a:rPr lang="fr-FR" dirty="0"/>
            </a:br>
            <a:br>
              <a:rPr lang="fr-FR" sz="1800" dirty="0"/>
            </a:br>
            <a:br>
              <a:rPr lang="fr-FR" sz="1600" dirty="0"/>
            </a:br>
            <a:br>
              <a:rPr lang="fr-FR" dirty="0"/>
            </a:br>
            <a:endParaRPr lang="en-US" sz="1600" dirty="0"/>
          </a:p>
        </p:txBody>
      </p:sp>
    </p:spTree>
    <p:extLst>
      <p:ext uri="{BB962C8B-B14F-4D97-AF65-F5344CB8AC3E}">
        <p14:creationId xmlns:p14="http://schemas.microsoft.com/office/powerpoint/2010/main" val="546835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80">
          <a:extLst>
            <a:ext uri="{FF2B5EF4-FFF2-40B4-BE49-F238E27FC236}">
              <a16:creationId xmlns:a16="http://schemas.microsoft.com/office/drawing/2014/main" id="{E504EBF6-9826-B1AE-7B36-CD6D25B9ABA3}"/>
            </a:ext>
          </a:extLst>
        </p:cNvPr>
        <p:cNvGrpSpPr/>
        <p:nvPr/>
      </p:nvGrpSpPr>
      <p:grpSpPr>
        <a:xfrm>
          <a:off x="0" y="0"/>
          <a:ext cx="0" cy="0"/>
          <a:chOff x="0" y="0"/>
          <a:chExt cx="0" cy="0"/>
        </a:xfrm>
      </p:grpSpPr>
      <p:sp>
        <p:nvSpPr>
          <p:cNvPr id="81" name="Google Shape;81;p16">
            <a:extLst>
              <a:ext uri="{FF2B5EF4-FFF2-40B4-BE49-F238E27FC236}">
                <a16:creationId xmlns:a16="http://schemas.microsoft.com/office/drawing/2014/main" id="{9EAE69F7-7650-D0A5-12D4-9057103CA327}"/>
              </a:ext>
            </a:extLst>
          </p:cNvPr>
          <p:cNvSpPr/>
          <p:nvPr/>
        </p:nvSpPr>
        <p:spPr>
          <a:xfrm>
            <a:off x="28676" y="0"/>
            <a:ext cx="3721914" cy="5161200"/>
          </a:xfrm>
          <a:prstGeom prst="rect">
            <a:avLst/>
          </a:prstGeom>
          <a:solidFill>
            <a:srgbClr val="C3FFF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a:extLst>
              <a:ext uri="{FF2B5EF4-FFF2-40B4-BE49-F238E27FC236}">
                <a16:creationId xmlns:a16="http://schemas.microsoft.com/office/drawing/2014/main" id="{A9C62CD8-43C0-5503-91D2-225360A4F6A5}"/>
              </a:ext>
            </a:extLst>
          </p:cNvPr>
          <p:cNvSpPr txBox="1">
            <a:spLocks noGrp="1"/>
          </p:cNvSpPr>
          <p:nvPr>
            <p:ph type="title"/>
          </p:nvPr>
        </p:nvSpPr>
        <p:spPr>
          <a:xfrm>
            <a:off x="406097" y="1030187"/>
            <a:ext cx="3088771" cy="3458100"/>
          </a:xfrm>
          <a:prstGeom prst="rect">
            <a:avLst/>
          </a:prstGeom>
          <a:noFill/>
          <a:ln>
            <a:noFill/>
          </a:ln>
        </p:spPr>
        <p:txBody>
          <a:bodyPr spcFirstLastPara="1" wrap="square" lIns="91425" tIns="91425" rIns="91425" bIns="91425" anchor="t" anchorCtr="0">
            <a:noAutofit/>
          </a:bodyPr>
          <a:lstStyle/>
          <a:p>
            <a:r>
              <a:rPr lang="en-US" b="1" dirty="0"/>
              <a:t>Future Work </a:t>
            </a:r>
            <a:br>
              <a:rPr lang="en-US" b="1" dirty="0"/>
            </a:br>
            <a:r>
              <a:rPr lang="en-US" b="1" dirty="0"/>
              <a:t>and Areas </a:t>
            </a:r>
            <a:br>
              <a:rPr lang="en-US" b="1" dirty="0"/>
            </a:br>
            <a:r>
              <a:rPr lang="en-US" b="1" dirty="0"/>
              <a:t>for </a:t>
            </a:r>
            <a:br>
              <a:rPr lang="en-US" b="1" dirty="0"/>
            </a:br>
            <a:r>
              <a:rPr lang="en-US" b="1" dirty="0"/>
              <a:t>Improvement</a:t>
            </a:r>
            <a:br>
              <a:rPr lang="fr-FR" dirty="0"/>
            </a:br>
            <a:br>
              <a:rPr lang="fr-FR" sz="1600" dirty="0"/>
            </a:br>
            <a:br>
              <a:rPr lang="fr-FR" dirty="0"/>
            </a:br>
            <a:r>
              <a:rPr lang="fr" sz="2400" dirty="0">
                <a:solidFill>
                  <a:srgbClr val="015955"/>
                </a:solidFill>
                <a:latin typeface="Inter"/>
                <a:ea typeface="Inter"/>
                <a:cs typeface="Inter"/>
                <a:sym typeface="Inter"/>
              </a:rPr>
              <a:t> </a:t>
            </a:r>
            <a:endParaRPr sz="2400" dirty="0">
              <a:solidFill>
                <a:srgbClr val="015955"/>
              </a:solidFill>
              <a:latin typeface="Inter"/>
              <a:ea typeface="Inter"/>
              <a:cs typeface="Inter"/>
              <a:sym typeface="Inter"/>
            </a:endParaRPr>
          </a:p>
        </p:txBody>
      </p:sp>
      <p:pic>
        <p:nvPicPr>
          <p:cNvPr id="83" name="Google Shape;83;p16">
            <a:extLst>
              <a:ext uri="{FF2B5EF4-FFF2-40B4-BE49-F238E27FC236}">
                <a16:creationId xmlns:a16="http://schemas.microsoft.com/office/drawing/2014/main" id="{13759441-5F3C-A7C0-45B5-C89CC39328B8}"/>
              </a:ext>
            </a:extLst>
          </p:cNvPr>
          <p:cNvPicPr preferRelativeResize="0"/>
          <p:nvPr/>
        </p:nvPicPr>
        <p:blipFill rotWithShape="1">
          <a:blip r:embed="rId3">
            <a:alphaModFix/>
          </a:blip>
          <a:srcRect/>
          <a:stretch/>
        </p:blipFill>
        <p:spPr>
          <a:xfrm>
            <a:off x="463375" y="482852"/>
            <a:ext cx="576900" cy="385904"/>
          </a:xfrm>
          <a:prstGeom prst="rect">
            <a:avLst/>
          </a:prstGeom>
          <a:noFill/>
          <a:ln>
            <a:noFill/>
          </a:ln>
        </p:spPr>
      </p:pic>
      <p:sp>
        <p:nvSpPr>
          <p:cNvPr id="84" name="Google Shape;84;p16">
            <a:extLst>
              <a:ext uri="{FF2B5EF4-FFF2-40B4-BE49-F238E27FC236}">
                <a16:creationId xmlns:a16="http://schemas.microsoft.com/office/drawing/2014/main" id="{F7EE2403-E4EB-B78E-6AE5-139AFB182663}"/>
              </a:ext>
            </a:extLst>
          </p:cNvPr>
          <p:cNvSpPr txBox="1">
            <a:spLocks noGrp="1"/>
          </p:cNvSpPr>
          <p:nvPr>
            <p:ph type="ctrTitle" idx="4294967295"/>
          </p:nvPr>
        </p:nvSpPr>
        <p:spPr>
          <a:xfrm>
            <a:off x="3976888" y="868756"/>
            <a:ext cx="4703737" cy="4044442"/>
          </a:xfrm>
          <a:prstGeom prst="rect">
            <a:avLst/>
          </a:prstGeom>
          <a:noFill/>
          <a:ln>
            <a:noFill/>
          </a:ln>
        </p:spPr>
        <p:txBody>
          <a:bodyPr spcFirstLastPara="1" wrap="square" lIns="91425" tIns="91425" rIns="91425" bIns="91425" anchor="t" anchorCtr="0">
            <a:noAutofit/>
          </a:bodyPr>
          <a:lstStyle/>
          <a:p>
            <a:br>
              <a:rPr lang="en-US" sz="1100" dirty="0"/>
            </a:br>
            <a:r>
              <a:rPr lang="en-US" sz="1600" dirty="0"/>
              <a:t>1.  Explore More Advanced Neural Network Architectures</a:t>
            </a:r>
            <a:br>
              <a:rPr lang="en-US" sz="1600" dirty="0"/>
            </a:br>
            <a:r>
              <a:rPr lang="en-US" sz="1600" dirty="0"/>
              <a:t>2.  Experiment with Different Sentence Transformer Models: </a:t>
            </a:r>
            <a:br>
              <a:rPr lang="en-US" sz="1600" dirty="0"/>
            </a:br>
            <a:r>
              <a:rPr lang="en-US" sz="1600" dirty="0"/>
              <a:t>3.  Fine-tuning Sentence Transformers: </a:t>
            </a:r>
            <a:br>
              <a:rPr lang="en-US" sz="1600" dirty="0"/>
            </a:br>
            <a:r>
              <a:rPr lang="en-US" sz="1600" dirty="0"/>
              <a:t>4.  Sophisticated Feature Engineering: </a:t>
            </a:r>
            <a:br>
              <a:rPr lang="en-US" sz="1600" dirty="0"/>
            </a:br>
            <a:r>
              <a:rPr lang="en-US" sz="1600" dirty="0"/>
              <a:t>5.  Real-time Processing Considerations: </a:t>
            </a:r>
            <a:br>
              <a:rPr lang="en-US" sz="1600" dirty="0"/>
            </a:br>
            <a:r>
              <a:rPr lang="en-US" sz="1600" dirty="0"/>
              <a:t>6.  Dataset Expansion and Diversity: </a:t>
            </a:r>
            <a:br>
              <a:rPr lang="en-US" sz="1100" dirty="0"/>
            </a:br>
            <a:br>
              <a:rPr lang="en-US" dirty="0"/>
            </a:br>
            <a:endParaRPr lang="en-US" sz="1600" dirty="0"/>
          </a:p>
        </p:txBody>
      </p:sp>
    </p:spTree>
    <p:extLst>
      <p:ext uri="{BB962C8B-B14F-4D97-AF65-F5344CB8AC3E}">
        <p14:creationId xmlns:p14="http://schemas.microsoft.com/office/powerpoint/2010/main" val="2910076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80">
          <a:extLst>
            <a:ext uri="{FF2B5EF4-FFF2-40B4-BE49-F238E27FC236}">
              <a16:creationId xmlns:a16="http://schemas.microsoft.com/office/drawing/2014/main" id="{421EBDBE-DFA0-FA99-7971-8FC70D84C842}"/>
            </a:ext>
          </a:extLst>
        </p:cNvPr>
        <p:cNvGrpSpPr/>
        <p:nvPr/>
      </p:nvGrpSpPr>
      <p:grpSpPr>
        <a:xfrm>
          <a:off x="0" y="0"/>
          <a:ext cx="0" cy="0"/>
          <a:chOff x="0" y="0"/>
          <a:chExt cx="0" cy="0"/>
        </a:xfrm>
      </p:grpSpPr>
      <p:sp>
        <p:nvSpPr>
          <p:cNvPr id="81" name="Google Shape;81;p16">
            <a:extLst>
              <a:ext uri="{FF2B5EF4-FFF2-40B4-BE49-F238E27FC236}">
                <a16:creationId xmlns:a16="http://schemas.microsoft.com/office/drawing/2014/main" id="{C54FC5DD-3474-EB26-3008-5F0B8DA84FFC}"/>
              </a:ext>
            </a:extLst>
          </p:cNvPr>
          <p:cNvSpPr/>
          <p:nvPr/>
        </p:nvSpPr>
        <p:spPr>
          <a:xfrm>
            <a:off x="28676" y="0"/>
            <a:ext cx="3721914" cy="5161200"/>
          </a:xfrm>
          <a:prstGeom prst="rect">
            <a:avLst/>
          </a:prstGeom>
          <a:solidFill>
            <a:srgbClr val="C3FFF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a:extLst>
              <a:ext uri="{FF2B5EF4-FFF2-40B4-BE49-F238E27FC236}">
                <a16:creationId xmlns:a16="http://schemas.microsoft.com/office/drawing/2014/main" id="{D566050B-8EDB-6CEE-BF30-3120A6C04E69}"/>
              </a:ext>
            </a:extLst>
          </p:cNvPr>
          <p:cNvSpPr txBox="1">
            <a:spLocks noGrp="1"/>
          </p:cNvSpPr>
          <p:nvPr>
            <p:ph type="title"/>
          </p:nvPr>
        </p:nvSpPr>
        <p:spPr>
          <a:xfrm>
            <a:off x="406097" y="1030187"/>
            <a:ext cx="3088771" cy="3458100"/>
          </a:xfrm>
          <a:prstGeom prst="rect">
            <a:avLst/>
          </a:prstGeom>
          <a:noFill/>
          <a:ln>
            <a:noFill/>
          </a:ln>
        </p:spPr>
        <p:txBody>
          <a:bodyPr spcFirstLastPara="1" wrap="square" lIns="91425" tIns="91425" rIns="91425" bIns="91425" anchor="t" anchorCtr="0">
            <a:noAutofit/>
          </a:bodyPr>
          <a:lstStyle/>
          <a:p>
            <a:r>
              <a:rPr lang="en-US" b="1" dirty="0"/>
              <a:t>Project Summary and </a:t>
            </a:r>
            <a:br>
              <a:rPr lang="en-US" b="1" dirty="0"/>
            </a:br>
            <a:r>
              <a:rPr lang="en-US" b="1" dirty="0"/>
              <a:t>Model Choice</a:t>
            </a:r>
            <a:br>
              <a:rPr lang="en-US" dirty="0"/>
            </a:br>
            <a:br>
              <a:rPr lang="fr-FR" dirty="0"/>
            </a:br>
            <a:br>
              <a:rPr lang="fr-FR" sz="1600" dirty="0"/>
            </a:br>
            <a:br>
              <a:rPr lang="fr-FR" dirty="0"/>
            </a:br>
            <a:r>
              <a:rPr lang="fr" sz="2400" dirty="0">
                <a:solidFill>
                  <a:srgbClr val="015955"/>
                </a:solidFill>
                <a:latin typeface="Inter"/>
                <a:ea typeface="Inter"/>
                <a:cs typeface="Inter"/>
                <a:sym typeface="Inter"/>
              </a:rPr>
              <a:t> </a:t>
            </a:r>
            <a:endParaRPr sz="2400" dirty="0">
              <a:solidFill>
                <a:srgbClr val="015955"/>
              </a:solidFill>
              <a:latin typeface="Inter"/>
              <a:ea typeface="Inter"/>
              <a:cs typeface="Inter"/>
              <a:sym typeface="Inter"/>
            </a:endParaRPr>
          </a:p>
        </p:txBody>
      </p:sp>
      <p:pic>
        <p:nvPicPr>
          <p:cNvPr id="83" name="Google Shape;83;p16">
            <a:extLst>
              <a:ext uri="{FF2B5EF4-FFF2-40B4-BE49-F238E27FC236}">
                <a16:creationId xmlns:a16="http://schemas.microsoft.com/office/drawing/2014/main" id="{AD73B007-0D76-5C5F-A7F8-93B3D44EDFE4}"/>
              </a:ext>
            </a:extLst>
          </p:cNvPr>
          <p:cNvPicPr preferRelativeResize="0"/>
          <p:nvPr/>
        </p:nvPicPr>
        <p:blipFill rotWithShape="1">
          <a:blip r:embed="rId3">
            <a:alphaModFix/>
          </a:blip>
          <a:srcRect/>
          <a:stretch/>
        </p:blipFill>
        <p:spPr>
          <a:xfrm>
            <a:off x="463375" y="482852"/>
            <a:ext cx="576900" cy="385904"/>
          </a:xfrm>
          <a:prstGeom prst="rect">
            <a:avLst/>
          </a:prstGeom>
          <a:noFill/>
          <a:ln>
            <a:noFill/>
          </a:ln>
        </p:spPr>
      </p:pic>
      <p:sp>
        <p:nvSpPr>
          <p:cNvPr id="84" name="Google Shape;84;p16">
            <a:extLst>
              <a:ext uri="{FF2B5EF4-FFF2-40B4-BE49-F238E27FC236}">
                <a16:creationId xmlns:a16="http://schemas.microsoft.com/office/drawing/2014/main" id="{DAD475D8-DC1E-8EDD-098C-2B3F13D79FAB}"/>
              </a:ext>
            </a:extLst>
          </p:cNvPr>
          <p:cNvSpPr txBox="1">
            <a:spLocks noGrp="1"/>
          </p:cNvSpPr>
          <p:nvPr>
            <p:ph type="ctrTitle" idx="4294967295"/>
          </p:nvPr>
        </p:nvSpPr>
        <p:spPr>
          <a:xfrm>
            <a:off x="3872289" y="388309"/>
            <a:ext cx="4703737" cy="4044442"/>
          </a:xfrm>
          <a:prstGeom prst="rect">
            <a:avLst/>
          </a:prstGeom>
          <a:noFill/>
          <a:ln>
            <a:noFill/>
          </a:ln>
        </p:spPr>
        <p:txBody>
          <a:bodyPr spcFirstLastPara="1" wrap="square" lIns="91425" tIns="91425" rIns="91425" bIns="91425" anchor="t" anchorCtr="0">
            <a:noAutofit/>
          </a:bodyPr>
          <a:lstStyle/>
          <a:p>
            <a:br>
              <a:rPr lang="en-US" sz="1600" dirty="0"/>
            </a:br>
            <a:r>
              <a:rPr lang="en-US" sz="1600" dirty="0"/>
              <a:t>The project successfully developed an efficient and accurate spam detection system by combining Sentence Transformers for semantic embeddings and Neural Networks for classification.</a:t>
            </a:r>
            <a:br>
              <a:rPr lang="en-US" sz="1600" dirty="0"/>
            </a:br>
            <a:br>
              <a:rPr lang="en-US" sz="1600" dirty="0"/>
            </a:br>
            <a:br>
              <a:rPr lang="en-US" sz="1600" dirty="0"/>
            </a:br>
            <a:r>
              <a:rPr lang="en-US" sz="1600" dirty="0"/>
              <a:t>The Ultra-Simple Neural Network was chosen as the preferred model for deployment due to its efficiency and comparable predictive power, aligning with the goal of a lightweight and resource-efficient solution.</a:t>
            </a:r>
            <a:br>
              <a:rPr lang="en-US" sz="1600" dirty="0"/>
            </a:br>
            <a:br>
              <a:rPr lang="en-US" sz="1100" dirty="0"/>
            </a:br>
            <a:br>
              <a:rPr lang="en-US" dirty="0"/>
            </a:br>
            <a:endParaRPr lang="en-US" sz="1600" dirty="0"/>
          </a:p>
        </p:txBody>
      </p:sp>
    </p:spTree>
    <p:extLst>
      <p:ext uri="{BB962C8B-B14F-4D97-AF65-F5344CB8AC3E}">
        <p14:creationId xmlns:p14="http://schemas.microsoft.com/office/powerpoint/2010/main" val="7178289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45774"/>
        </a:solidFill>
        <a:effectLst/>
      </p:bgPr>
    </p:bg>
    <p:spTree>
      <p:nvGrpSpPr>
        <p:cNvPr id="1" name="Shape 102"/>
        <p:cNvGrpSpPr/>
        <p:nvPr/>
      </p:nvGrpSpPr>
      <p:grpSpPr>
        <a:xfrm>
          <a:off x="0" y="0"/>
          <a:ext cx="0" cy="0"/>
          <a:chOff x="0" y="0"/>
          <a:chExt cx="0" cy="0"/>
        </a:xfrm>
      </p:grpSpPr>
      <p:sp>
        <p:nvSpPr>
          <p:cNvPr id="103" name="Google Shape;103;p18"/>
          <p:cNvSpPr txBox="1">
            <a:spLocks noGrp="1"/>
          </p:cNvSpPr>
          <p:nvPr>
            <p:ph type="ctrTitle" idx="4294967295"/>
          </p:nvPr>
        </p:nvSpPr>
        <p:spPr>
          <a:xfrm>
            <a:off x="1390625" y="1039500"/>
            <a:ext cx="6362700" cy="3188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chemeClr val="dk1"/>
              </a:buClr>
              <a:buSzPts val="2800"/>
              <a:buFont typeface="Arial"/>
              <a:buNone/>
            </a:pPr>
            <a:r>
              <a:rPr lang="fr" sz="3200" b="0" i="0" u="none" strike="noStrike" cap="none" dirty="0">
                <a:solidFill>
                  <a:srgbClr val="FFFFFF"/>
                </a:solidFill>
                <a:latin typeface="Libre Baskerville"/>
                <a:ea typeface="Libre Baskerville"/>
                <a:cs typeface="Libre Baskerville"/>
                <a:sym typeface="Libre Baskerville"/>
              </a:rPr>
              <a:t>“The greatest challenge to any thinker is stating the problem in a way that will allow a solution”</a:t>
            </a:r>
            <a:endParaRPr sz="3200" b="0" i="0" u="none" strike="noStrike" cap="none" dirty="0">
              <a:solidFill>
                <a:srgbClr val="FFFFFF"/>
              </a:solidFill>
              <a:latin typeface="Libre Baskerville"/>
              <a:ea typeface="Libre Baskerville"/>
              <a:cs typeface="Libre Baskerville"/>
              <a:sym typeface="Libre Baskerville"/>
            </a:endParaRPr>
          </a:p>
        </p:txBody>
      </p:sp>
      <p:sp>
        <p:nvSpPr>
          <p:cNvPr id="104" name="Google Shape;104;p18"/>
          <p:cNvSpPr txBox="1">
            <a:spLocks noGrp="1"/>
          </p:cNvSpPr>
          <p:nvPr>
            <p:ph type="ctrTitle" idx="4294967295"/>
          </p:nvPr>
        </p:nvSpPr>
        <p:spPr>
          <a:xfrm>
            <a:off x="463375" y="4530825"/>
            <a:ext cx="8145000" cy="3297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chemeClr val="dk1"/>
              </a:buClr>
              <a:buSzPts val="2800"/>
              <a:buFont typeface="Arial"/>
              <a:buNone/>
            </a:pPr>
            <a:r>
              <a:rPr lang="fr" sz="1000" b="0" i="0" u="none" strike="noStrike" cap="none" dirty="0">
                <a:solidFill>
                  <a:srgbClr val="FFFFFF"/>
                </a:solidFill>
                <a:latin typeface="Inter"/>
                <a:ea typeface="Inter"/>
                <a:cs typeface="Inter"/>
                <a:sym typeface="Inter"/>
              </a:rPr>
              <a:t>Bertrand RUSSELL, British philosopher</a:t>
            </a:r>
            <a:endParaRPr sz="1000" b="0" i="0" u="none" strike="noStrike" cap="none" dirty="0">
              <a:solidFill>
                <a:srgbClr val="FFFFFF"/>
              </a:solidFill>
              <a:latin typeface="Inter"/>
              <a:ea typeface="Inter"/>
              <a:cs typeface="Inter"/>
              <a:sym typeface="Inter"/>
            </a:endParaRPr>
          </a:p>
        </p:txBody>
      </p:sp>
      <p:pic>
        <p:nvPicPr>
          <p:cNvPr id="105" name="Google Shape;105;p18"/>
          <p:cNvPicPr preferRelativeResize="0"/>
          <p:nvPr/>
        </p:nvPicPr>
        <p:blipFill rotWithShape="1">
          <a:blip r:embed="rId3">
            <a:alphaModFix/>
          </a:blip>
          <a:srcRect/>
          <a:stretch/>
        </p:blipFill>
        <p:spPr>
          <a:xfrm>
            <a:off x="463375" y="482850"/>
            <a:ext cx="576900" cy="39278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0DBD0"/>
        </a:solidFill>
        <a:effectLst/>
      </p:bgPr>
    </p:bg>
    <p:spTree>
      <p:nvGrpSpPr>
        <p:cNvPr id="1" name="Shape 109"/>
        <p:cNvGrpSpPr/>
        <p:nvPr/>
      </p:nvGrpSpPr>
      <p:grpSpPr>
        <a:xfrm>
          <a:off x="0" y="0"/>
          <a:ext cx="0" cy="0"/>
          <a:chOff x="0" y="0"/>
          <a:chExt cx="0" cy="0"/>
        </a:xfrm>
      </p:grpSpPr>
      <p:sp>
        <p:nvSpPr>
          <p:cNvPr id="110" name="Google Shape;110;p19"/>
          <p:cNvSpPr txBox="1">
            <a:spLocks noGrp="1"/>
          </p:cNvSpPr>
          <p:nvPr>
            <p:ph type="ctrTitle" idx="4294967295"/>
          </p:nvPr>
        </p:nvSpPr>
        <p:spPr>
          <a:xfrm>
            <a:off x="1235600" y="1742168"/>
            <a:ext cx="5315100" cy="698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 sz="5600" b="1" dirty="0">
                <a:solidFill>
                  <a:srgbClr val="0E3449"/>
                </a:solidFill>
                <a:latin typeface="Inter"/>
                <a:ea typeface="Inter"/>
                <a:cs typeface="Inter"/>
                <a:sym typeface="Inter"/>
              </a:rPr>
              <a:t>Thank you! </a:t>
            </a:r>
            <a:endParaRPr sz="5600" b="1" dirty="0">
              <a:solidFill>
                <a:srgbClr val="0E3449"/>
              </a:solidFill>
              <a:latin typeface="Inter"/>
              <a:ea typeface="Inter"/>
              <a:cs typeface="Inter"/>
              <a:sym typeface="Inter"/>
            </a:endParaRPr>
          </a:p>
        </p:txBody>
      </p:sp>
      <p:pic>
        <p:nvPicPr>
          <p:cNvPr id="111" name="Google Shape;111;p19"/>
          <p:cNvPicPr preferRelativeResize="0"/>
          <p:nvPr/>
        </p:nvPicPr>
        <p:blipFill>
          <a:blip r:embed="rId3">
            <a:alphaModFix/>
          </a:blip>
          <a:stretch>
            <a:fillRect/>
          </a:stretch>
        </p:blipFill>
        <p:spPr>
          <a:xfrm>
            <a:off x="3918625" y="3006625"/>
            <a:ext cx="4599299" cy="2136876"/>
          </a:xfrm>
          <a:prstGeom prst="rect">
            <a:avLst/>
          </a:prstGeom>
          <a:noFill/>
          <a:ln>
            <a:noFill/>
          </a:ln>
        </p:spPr>
      </p:pic>
      <p:sp>
        <p:nvSpPr>
          <p:cNvPr id="112" name="Google Shape;112;p19"/>
          <p:cNvSpPr txBox="1">
            <a:spLocks noGrp="1"/>
          </p:cNvSpPr>
          <p:nvPr>
            <p:ph type="ctrTitle" idx="4294967295"/>
          </p:nvPr>
        </p:nvSpPr>
        <p:spPr>
          <a:xfrm>
            <a:off x="1274764" y="2606043"/>
            <a:ext cx="5315100" cy="698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 sz="2400" dirty="0">
                <a:solidFill>
                  <a:srgbClr val="0E3449"/>
                </a:solidFill>
                <a:latin typeface="Inter Medium"/>
                <a:ea typeface="Inter Medium"/>
                <a:cs typeface="Inter Medium"/>
                <a:sym typeface="Inter Medium"/>
              </a:rPr>
              <a:t>Do you have any questions ?</a:t>
            </a:r>
            <a:endParaRPr sz="2400" dirty="0">
              <a:solidFill>
                <a:srgbClr val="0E3449"/>
              </a:solidFill>
              <a:latin typeface="Inter Medium"/>
              <a:ea typeface="Inter Medium"/>
              <a:cs typeface="Inter Medium"/>
              <a:sym typeface="Inter Medium"/>
            </a:endParaRPr>
          </a:p>
        </p:txBody>
      </p:sp>
      <p:pic>
        <p:nvPicPr>
          <p:cNvPr id="113" name="Google Shape;113;p19"/>
          <p:cNvPicPr preferRelativeResize="0"/>
          <p:nvPr/>
        </p:nvPicPr>
        <p:blipFill>
          <a:blip r:embed="rId4">
            <a:alphaModFix/>
          </a:blip>
          <a:stretch>
            <a:fillRect/>
          </a:stretch>
        </p:blipFill>
        <p:spPr>
          <a:xfrm>
            <a:off x="463375" y="482852"/>
            <a:ext cx="576900" cy="385904"/>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16195</TotalTime>
  <Words>1699</Words>
  <Application>Microsoft Office PowerPoint</Application>
  <PresentationFormat>Affichage à l'écran (16:9)</PresentationFormat>
  <Paragraphs>44</Paragraphs>
  <Slides>19</Slides>
  <Notes>19</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19</vt:i4>
      </vt:variant>
    </vt:vector>
  </HeadingPairs>
  <TitlesOfParts>
    <vt:vector size="25" baseType="lpstr">
      <vt:lpstr>Inter SemiBold</vt:lpstr>
      <vt:lpstr>Libre Baskerville</vt:lpstr>
      <vt:lpstr>Inter</vt:lpstr>
      <vt:lpstr>Arial</vt:lpstr>
      <vt:lpstr>Inter Medium</vt:lpstr>
      <vt:lpstr>Simple Light</vt:lpstr>
      <vt:lpstr>  Machine Learning Engineer   Certification at JEDHA</vt:lpstr>
      <vt:lpstr>AT&amp;T Spam Detector Project  Deep Learning </vt:lpstr>
      <vt:lpstr>Project Overview</vt:lpstr>
      <vt:lpstr>Methodology Overview  A Hybrid Approach: Transfer Learning + Feature Engineering + Deep Learning   </vt:lpstr>
      <vt:lpstr>Data Loading and Cleaning  Preparation for the exploratory analysis  </vt:lpstr>
      <vt:lpstr>Exploratory Data Analysis (EDA) &amp; Insights  Key Findings    </vt:lpstr>
      <vt:lpstr>Exploratory Data Analysis (EDA) &amp; Insights  Visualizations and Observationsd    </vt:lpstr>
      <vt:lpstr>Feature Engineering:   Spam Keyword Features      </vt:lpstr>
      <vt:lpstr>Text Embedding with Sentence Transformers  - Converting Text to Meaningful Vectors   </vt:lpstr>
      <vt:lpstr>Data Preparation for Deep Learning     </vt:lpstr>
      <vt:lpstr>Neural Network Models Architecture  - 2 lean feed-forward neural networks for efficient binary classification   </vt:lpstr>
      <vt:lpstr>Neural Network Models Architecture  - 2 lean feed-forward neural networks for efficient binary classification   </vt:lpstr>
      <vt:lpstr>Training Process and Class Weighting   - Key Aspects of Training    </vt:lpstr>
      <vt:lpstr>Model Evaluation and Comparison    - Model Selection    </vt:lpstr>
      <vt:lpstr>Prediction Demo on New Messages    </vt:lpstr>
      <vt:lpstr>Future Work  and Areas  for  Improvement    </vt:lpstr>
      <vt:lpstr>Project Summary and  Model Choice     </vt:lpstr>
      <vt:lpstr>“The greatest challenge to any thinker is stating the problem in a way that will allow a solution”</vt:lpstr>
      <vt:lpstr>Thank you!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Agnieszka Heijligers</dc:creator>
  <cp:lastModifiedBy>Agnieszka Heijligers</cp:lastModifiedBy>
  <cp:revision>12</cp:revision>
  <dcterms:modified xsi:type="dcterms:W3CDTF">2026-01-03T18:39:17Z</dcterms:modified>
</cp:coreProperties>
</file>